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gif" ContentType="image/gif"/>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60"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4995"/>
    <p:restoredTop sz="94660"/>
  </p:normalViewPr>
  <p:slideViewPr>
    <p:cSldViewPr snapToGrid="0">
      <p:cViewPr>
        <p:scale>
          <a:sx d="100" n="75"/>
          <a:sy d="100" n="75"/>
        </p:scale>
        <p:origin x="36" y="36"/>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notesMaster" Target="notesMasters/notesMaster1.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 Id="rId63"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 a side-by-side comparison of SPSS is above. This is not to dissuade anyone from learning SPSS or encourage anyone to learn R. These are simply benefits or tradeoffs to learning each. R has many benefits over SPSS because R is a scriptable programming language. However, for many SPSS is the tool of choice because it’s a standard in the industry or perhaps the barrier to entry for learning a coding language is too high and not worth the time. That’s </a:t>
            </a:r>
            <a:r>
              <a:rPr b="1"/>
              <a:t>totally fine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 is great for interactive computational analysis, allowing for easy exploration and iteration. Using an IDE - Integrated Development Environment - such as RStudio, facilitates this interactivity, providing you with easy access to a place to quickly code (the console), a place to write saveable scripts (source editor), a place to view the objects that you create (environment pane), and a place to interact with your file system, visual outputs from your code, and help documentation (the miscellaneous pane, for lack of a better word).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usually visualize our data as existing in distinct files that we can interact with. Google sheets, CSV, Excel files &amp;c. These consist of rows, columns, and cells. Well what happens when we import these files into R? What do we have to think about once we get there?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of the most confusing aspects of learning your first programming language is that data are no longer CSVs, or Excel files. True, that’s where the data are still stored in your desktop, but once you </a:t>
            </a:r>
            <a:r>
              <a:rPr i="1"/>
              <a:t>import</a:t>
            </a:r>
            <a:r>
              <a:rPr/>
              <a:t> data they become </a:t>
            </a:r>
            <a:r>
              <a:rPr i="1"/>
              <a:t>objects</a:t>
            </a:r>
            <a:r>
              <a:rPr/>
              <a:t> (stored in data structures) that you can manipulate.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answer is nothing. Once you begin manipulating data in R, you would need to first save that those edits to the file using a call like </a:t>
            </a:r>
            <a:r>
              <a:rPr>
                <a:latin typeface="Courier"/>
              </a:rPr>
              <a:t>write.csv</a:t>
            </a:r>
            <a:r>
              <a:rPr/>
              <a:t> to the original file (not recommended). Otherwise all you are doing is editing the </a:t>
            </a:r>
            <a:r>
              <a:rPr i="1"/>
              <a:t>object</a:t>
            </a:r>
            <a:r>
              <a:rPr/>
              <a:t> in R. This leads into how R knows where the file lives. How does R know where the csv that you want to manipulate lives?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common issue I ran into when I used to TA for statistics and computer science classes was the notion of the file structure or directory structure. People who work with computers will often use the terms </a:t>
            </a:r>
            <a:r>
              <a:rPr>
                <a:latin typeface="Courier"/>
              </a:rPr>
              <a:t>file</a:t>
            </a:r>
            <a:r>
              <a:rPr/>
              <a:t> and </a:t>
            </a:r>
            <a:r>
              <a:rPr>
                <a:latin typeface="Courier"/>
              </a:rPr>
              <a:t>directory</a:t>
            </a:r>
            <a:r>
              <a:rPr/>
              <a:t> interchangeably. If you understand file structure and directory structure than many common problems that people who are new to coding fall away.</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current working directory can be seen using the </a:t>
            </a:r>
            <a:r>
              <a:rPr>
                <a:latin typeface="Courier"/>
              </a:rPr>
              <a:t>getwd()</a:t>
            </a:r>
            <a:r>
              <a:rPr/>
              <a:t> command. Similarly we can manually set the working directory by using the </a:t>
            </a:r>
            <a:r>
              <a:rPr>
                <a:latin typeface="Courier"/>
              </a:rPr>
              <a:t>setwd()</a:t>
            </a:r>
            <a:r>
              <a:rPr/>
              <a:t> command. However this is not recommended as it requires us to set relative versus absolute paths.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 I have included a GIF on how to create a new RStudio Project. When you open the .Rproj file, RStudio automatically sets the working directory to that project folder. No more setwd() headaches or “file not found” errors. All your scripts, datasets, and figures live inside one consistent structure. Makes sharing and collaboration much easier because it works seamlessly with major version control softwares. Don’t worry if you don’t know what that is yet, I will be running a whole series on Git and GitHub later on in the semester. Projects also remember your R environment, active tabs, and even console history when you reopen them. You can easily link a project to Git for version control — every project is its own repository. For teaching or research, it ensures every student or collaborator starts from the same structure.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reason why you </a:t>
            </a:r>
            <a:r>
              <a:rPr i="1"/>
              <a:t>do not</a:t>
            </a:r>
            <a:r>
              <a:rPr/>
              <a:t> want to work with absolute filepaths is that this will absolutely break if you try to work on this codebase on another computer. For example if another person wants to download your code and use it (say you publish with some code) and the whole project lives in a folder called </a:t>
            </a:r>
            <a:r>
              <a:rPr>
                <a:latin typeface="Courier"/>
              </a:rPr>
              <a:t>Workshops</a:t>
            </a:r>
            <a:r>
              <a:rPr/>
              <a:t> then the whole file structure before </a:t>
            </a:r>
            <a:r>
              <a:rPr>
                <a:latin typeface="Courier"/>
              </a:rPr>
              <a:t>Workshops</a:t>
            </a:r>
            <a:r>
              <a:rPr/>
              <a:t> will in all likelihood not exist. Instead we should work with </a:t>
            </a:r>
            <a:r>
              <a:rPr>
                <a:latin typeface="Courier"/>
              </a:rPr>
              <a:t>relative</a:t>
            </a:r>
            <a:r>
              <a:rPr/>
              <a:t> filepaths whenever possible (and it’s almost always possible in my experience). To specify a </a:t>
            </a:r>
            <a:r>
              <a:rPr i="1"/>
              <a:t>relative</a:t>
            </a:r>
            <a:r>
              <a:rPr/>
              <a:t> filepath we can simply use the </a:t>
            </a:r>
            <a:r>
              <a:rPr>
                <a:latin typeface="Courier"/>
              </a:rPr>
              <a:t>.</a:t>
            </a:r>
            <a:r>
              <a:rPr/>
              <a:t> operator within our file path string. This operator can be used any number of times to specify higher levels of the file structure. For example, lets say we are working in the </a:t>
            </a:r>
            <a:r>
              <a:rPr>
                <a:latin typeface="Courier"/>
              </a:rPr>
              <a:t>workshops/guides</a:t>
            </a:r>
            <a:r>
              <a:rPr/>
              <a:t> then to specify the </a:t>
            </a:r>
            <a:r>
              <a:rPr>
                <a:latin typeface="Courier"/>
              </a:rPr>
              <a:t>assets/gifs</a:t>
            </a:r>
            <a:r>
              <a:rPr/>
              <a:t> directory we would need to say </a:t>
            </a:r>
            <a:r>
              <a:rPr>
                <a:latin typeface="Courier"/>
              </a:rPr>
              <a:t>../assets/gifs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read.table()</a:t>
            </a:r>
            <a:r>
              <a:rPr/>
              <a:t> is R’s primary means of importing data, allowing the user to specify a variety of options. </a:t>
            </a:r>
            <a:r>
              <a:rPr>
                <a:latin typeface="Courier"/>
              </a:rPr>
              <a:t>read.csv()</a:t>
            </a:r>
            <a:r>
              <a:rPr/>
              <a:t> and </a:t>
            </a:r>
            <a:r>
              <a:rPr>
                <a:latin typeface="Courier"/>
              </a:rPr>
              <a:t>read.delim()</a:t>
            </a:r>
            <a:r>
              <a:rPr/>
              <a:t> are two wrappers on </a:t>
            </a:r>
            <a:r>
              <a:rPr>
                <a:latin typeface="Courier"/>
              </a:rPr>
              <a:t>read.table()</a:t>
            </a:r>
            <a:r>
              <a:rPr/>
              <a:t> to simplify the import of comma separated and tab delimited files; the only difference between the two is the delimiter that they expect.</a:t>
            </a:r>
          </a:p>
          <a:p>
            <a:pPr lvl="0" indent="0" marL="0">
              <a:buNone/>
            </a:pPr>
          </a:p>
          <a:p>
            <a:pPr lvl="0" indent="0" marL="0">
              <a:buNone/>
            </a:pPr>
            <a:r>
              <a:rPr/>
              <a:t>Thankfully, you can fix this with a few extra parameters. However, there are smarter, less clumsy options out there.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using </a:t>
            </a:r>
            <a:r>
              <a:rPr>
                <a:latin typeface="Courier"/>
              </a:rPr>
              <a:t>read.csv()</a:t>
            </a:r>
            <a:r>
              <a:rPr/>
              <a:t> is as simple as specifying a directory or url from which to import data…By default, it assumes your file has a header and that any blank values contain the characters </a:t>
            </a:r>
            <a:r>
              <a:rPr>
                <a:latin typeface="Courier"/>
              </a:rPr>
              <a:t>NA</a:t>
            </a:r>
            <a:r>
              <a:rPr/>
              <a:t>. Depending on our data source, however, we may need to adjust these parameters…This is also Base 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 may also be a good idea to trim excess white space, which is not done by default… TRUE and FALSE can be denoted with either </a:t>
            </a:r>
            <a:r>
              <a:rPr>
                <a:latin typeface="Courier"/>
              </a:rPr>
              <a:t>T</a:t>
            </a:r>
            <a:r>
              <a:rPr/>
              <a:t> and </a:t>
            </a:r>
            <a:r>
              <a:rPr>
                <a:latin typeface="Courier"/>
              </a:rPr>
              <a:t>F</a:t>
            </a:r>
            <a:r>
              <a:rPr/>
              <a:t> or </a:t>
            </a:r>
            <a:r>
              <a:rPr>
                <a:latin typeface="Courier"/>
              </a:rPr>
              <a:t>TRUE</a:t>
            </a:r>
            <a:r>
              <a:rPr/>
              <a:t> and </a:t>
            </a:r>
            <a:r>
              <a:rPr>
                <a:latin typeface="Courier"/>
              </a:rPr>
              <a:t>FALSE</a:t>
            </a:r>
            <a:r>
              <a:rPr/>
              <a:t>. However, </a:t>
            </a:r>
            <a:r>
              <a:rPr>
                <a:latin typeface="Courier"/>
              </a:rPr>
              <a:t>T</a:t>
            </a:r>
            <a:r>
              <a:rPr/>
              <a:t> and </a:t>
            </a:r>
            <a:r>
              <a:rPr>
                <a:latin typeface="Courier"/>
              </a:rPr>
              <a:t>F</a:t>
            </a:r>
            <a:r>
              <a:rPr/>
              <a:t> as variable names can be overwritten to point to other objects, whereas </a:t>
            </a:r>
            <a:r>
              <a:rPr>
                <a:latin typeface="Courier"/>
              </a:rPr>
              <a:t>TRUE</a:t>
            </a:r>
            <a:r>
              <a:rPr/>
              <a:t> and </a:t>
            </a:r>
            <a:r>
              <a:rPr>
                <a:latin typeface="Courier"/>
              </a:rPr>
              <a:t>FALSE</a:t>
            </a:r>
            <a:r>
              <a:rPr/>
              <a:t> cannot. It is advisable to always use </a:t>
            </a:r>
            <a:r>
              <a:rPr>
                <a:latin typeface="Courier"/>
              </a:rPr>
              <a:t>TRUE</a:t>
            </a:r>
            <a:r>
              <a:rPr/>
              <a:t> and </a:t>
            </a:r>
            <a:r>
              <a:rPr>
                <a:latin typeface="Courier"/>
              </a:rPr>
              <a:t>FALSE</a:t>
            </a:r>
            <a:r>
              <a:rPr/>
              <a:t>.</a:t>
            </a:r>
          </a:p>
          <a:p>
            <a:pPr lvl="0" indent="0" marL="0">
              <a:buNone/>
            </a:pPr>
          </a:p>
          <a:p>
            <a:pPr lvl="0" indent="0" marL="0">
              <a:buNone/>
            </a:pPr>
            <a:r>
              <a:rPr/>
              <a:t>When importing data, it’s common to encounter inconsistencies — blank cells, placeholder codes like 99, or stray spaces in text columns.</a:t>
            </a:r>
          </a:p>
          <a:p>
            <a:pPr lvl="0" indent="0" marL="0">
              <a:buNone/>
            </a:pPr>
          </a:p>
          <a:p>
            <a:pPr lvl="0" indent="0" marL="0">
              <a:buNone/>
            </a:pPr>
            <a:r>
              <a:rPr/>
              <a:t>The na.strings argument lets you tell R what should count as missing. Similarly, strip.white = TRUE cleans up text columns automatically.</a:t>
            </a:r>
          </a:p>
          <a:p>
            <a:pPr lvl="0" indent="0" marL="0">
              <a:buNone/>
            </a:pPr>
          </a:p>
          <a:p>
            <a:pPr lvl="0" indent="0" marL="0">
              <a:buNone/>
            </a:pPr>
            <a:r>
              <a:rPr/>
              <a:t>Also, some files (especially machine-generated or exported from older systems) may lack a header row; header = FALSE helps handle those.</a:t>
            </a:r>
          </a:p>
          <a:p>
            <a:pPr lvl="0" indent="0" marL="0">
              <a:buNone/>
            </a:pPr>
          </a:p>
          <a:p>
            <a:pPr lvl="0" indent="0" marL="0">
              <a:buNone/>
            </a:pPr>
            <a:r>
              <a:rPr/>
              <a:t>Additional options and their defaults can be found with </a:t>
            </a:r>
            <a:r>
              <a:rPr>
                <a:latin typeface="Courier"/>
              </a:rPr>
              <a:t>?read.table()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read.csv()</a:t>
            </a:r>
            <a:r>
              <a:rPr/>
              <a:t> and </a:t>
            </a:r>
            <a:r>
              <a:rPr>
                <a:latin typeface="Courier"/>
              </a:rPr>
              <a:t>read_csv()</a:t>
            </a:r>
            <a:r>
              <a:rPr/>
              <a:t> are very similar. </a:t>
            </a:r>
            <a:r>
              <a:rPr>
                <a:latin typeface="Courier"/>
              </a:rPr>
              <a:t>read_csv()</a:t>
            </a:r>
            <a:r>
              <a:rPr/>
              <a:t> is ostensibly faster, it also loads data into a tibble as opposed to a data frame, and has more user friendly defaults. It does, however, require loading additional packages.</a:t>
            </a:r>
          </a:p>
          <a:p>
            <a:pPr lvl="0" indent="0" marL="0">
              <a:buNone/>
            </a:pPr>
          </a:p>
          <a:p>
            <a:pPr lvl="0" indent="0" marL="0">
              <a:buNone/>
            </a:pPr>
            <a:r>
              <a:rPr/>
              <a:t>As with </a:t>
            </a:r>
            <a:r>
              <a:rPr>
                <a:latin typeface="Courier"/>
              </a:rPr>
              <a:t>read.csv()</a:t>
            </a:r>
            <a:r>
              <a:rPr/>
              <a:t> and </a:t>
            </a:r>
            <a:r>
              <a:rPr>
                <a:latin typeface="Courier"/>
              </a:rPr>
              <a:t>read.delim</a:t>
            </a:r>
            <a:r>
              <a:rPr/>
              <a:t>, </a:t>
            </a:r>
            <a:r>
              <a:rPr>
                <a:latin typeface="Courier"/>
              </a:rPr>
              <a:t>read_csv()</a:t>
            </a:r>
            <a:r>
              <a:rPr/>
              <a:t> and </a:t>
            </a:r>
            <a:r>
              <a:rPr>
                <a:latin typeface="Courier"/>
              </a:rPr>
              <a:t>read_tsv()</a:t>
            </a:r>
            <a:r>
              <a:rPr/>
              <a:t> – for tab separated values – are wrappers on </a:t>
            </a:r>
            <a:r>
              <a:rPr>
                <a:latin typeface="Courier"/>
              </a:rPr>
              <a:t>read_delim()</a:t>
            </a:r>
            <a:r>
              <a:rPr/>
              <a:t> that is more flexible.</a:t>
            </a:r>
          </a:p>
          <a:p>
            <a:pPr lvl="0" indent="0" marL="0">
              <a:buNone/>
            </a:pPr>
          </a:p>
          <a:p>
            <a:pPr lvl="0" indent="0" marL="0">
              <a:buNone/>
            </a:pPr>
            <a:r>
              <a:rPr>
                <a:latin typeface="Courier"/>
              </a:rPr>
              <a:t>read_csv()</a:t>
            </a:r>
            <a:r>
              <a:rPr/>
              <a:t> assumes the file has a header, it trims white space by default, and that missing data are either blank cells or contain the character </a:t>
            </a:r>
            <a:r>
              <a:rPr>
                <a:latin typeface="Courier"/>
              </a:rPr>
              <a:t>NA</a:t>
            </a:r>
            <a:r>
              <a:rPr/>
              <a:t>. To adjust these, use the arguments </a:t>
            </a:r>
            <a:r>
              <a:rPr>
                <a:latin typeface="Courier"/>
              </a:rPr>
              <a:t>col_names = FALSE</a:t>
            </a:r>
            <a:r>
              <a:rPr/>
              <a:t>, </a:t>
            </a:r>
            <a:r>
              <a:rPr>
                <a:latin typeface="Courier"/>
              </a:rPr>
              <a:t>na = na_values</a:t>
            </a:r>
            <a:r>
              <a:rPr/>
              <a:t>, </a:t>
            </a:r>
            <a:r>
              <a:rPr>
                <a:latin typeface="Courier"/>
              </a:rPr>
              <a:t>trim_ws = FALSE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R does not include a package for loading in Excel files. For this we’ll use the tidyverse package </a:t>
            </a:r>
            <a:r>
              <a:rPr>
                <a:latin typeface="Courier"/>
              </a:rPr>
              <a:t>readxl</a:t>
            </a:r>
            <a:r>
              <a:rPr/>
              <a:t>, which can read both legacy </a:t>
            </a:r>
            <a:r>
              <a:rPr>
                <a:latin typeface="Courier"/>
              </a:rPr>
              <a:t>xls</a:t>
            </a:r>
            <a:r>
              <a:rPr/>
              <a:t> as well as more recent </a:t>
            </a:r>
            <a:r>
              <a:rPr>
                <a:latin typeface="Courier"/>
              </a:rPr>
              <a:t>xlsx</a:t>
            </a:r>
            <a:r>
              <a:rPr/>
              <a:t> files. This is tidyverse, and so </a:t>
            </a:r>
            <a:r>
              <a:rPr>
                <a:latin typeface="Courier"/>
              </a:rPr>
              <a:t>read_excel()</a:t>
            </a:r>
            <a:r>
              <a:rPr/>
              <a:t> loads a tibble object. If you need or want a data frame, you’ll need to adjust for that…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You can specify specific sheets and ranges with the </a:t>
            </a:r>
            <a:r>
              <a:rPr>
                <a:latin typeface="Courier"/>
              </a:rPr>
              <a:t>sheet</a:t>
            </a:r>
            <a:r>
              <a:rPr/>
              <a:t> and </a:t>
            </a:r>
            <a:r>
              <a:rPr>
                <a:latin typeface="Courier"/>
              </a:rPr>
              <a:t>range</a:t>
            </a:r>
            <a:r>
              <a:rPr/>
              <a:t> arguments…Additional options and their defaults can be found with </a:t>
            </a:r>
            <a:r>
              <a:rPr>
                <a:latin typeface="Courier"/>
              </a:rPr>
              <a:t>?readxl</a:t>
            </a:r>
            <a:r>
              <a:rPr/>
              <a:t> or by visiting https://readxl.tidyverse.org/.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r-package </a:t>
            </a:r>
            <a:r>
              <a:rPr>
                <a:latin typeface="Courier"/>
              </a:rPr>
              <a:t>purrr</a:t>
            </a:r>
            <a:r>
              <a:rPr/>
              <a:t> within the package-ecosystem </a:t>
            </a:r>
            <a:r>
              <a:rPr>
                <a:latin typeface="Courier"/>
              </a:rPr>
              <a:t>tidyverse</a:t>
            </a:r>
            <a:r>
              <a:rPr/>
              <a:t> is a great tool for functional-programming like the r-package </a:t>
            </a:r>
            <a:r>
              <a:rPr>
                <a:latin typeface="Courier"/>
              </a:rPr>
              <a:t>dplyr</a:t>
            </a:r>
            <a:r>
              <a:rPr/>
              <a:t>. Functional programming treats functions (like actual data–think data frames and such) like data to be manipulated. This programming doctrine focuses on reproducilibilty and clarity without a mucking up environments with a lot of unnecessary objects.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what happens when we call the function </a:t>
            </a:r>
            <a:r>
              <a:rPr>
                <a:latin typeface="Courier"/>
              </a:rPr>
              <a:t>glimpse()</a:t>
            </a:r>
            <a:r>
              <a:rPr/>
              <a:t> (also from the tidyverse). This gives a nice, clean graphical representation of what is in our object. Like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str()</a:t>
            </a:r>
            <a:r>
              <a:rPr/>
              <a:t> is a handy function like </a:t>
            </a:r>
            <a:r>
              <a:rPr>
                <a:latin typeface="Courier"/>
              </a:rPr>
              <a:t>glimpse()</a:t>
            </a:r>
            <a:r>
              <a:rPr/>
              <a:t> from dplyr which can give you a quick overview of the </a:t>
            </a:r>
            <a:r>
              <a:rPr i="1"/>
              <a:t>object</a:t>
            </a:r>
            <a:r>
              <a:rPr/>
              <a:t> that you’re working with. The main differences between the two are that </a:t>
            </a:r>
            <a:r>
              <a:rPr>
                <a:latin typeface="Courier"/>
              </a:rPr>
              <a:t>glimpse()</a:t>
            </a:r>
            <a:r>
              <a:rPr/>
              <a:t> requires the </a:t>
            </a:r>
            <a:r>
              <a:rPr>
                <a:latin typeface="Courier"/>
              </a:rPr>
              <a:t>dplyr</a:t>
            </a:r>
            <a:r>
              <a:rPr/>
              <a:t> package and </a:t>
            </a:r>
            <a:r>
              <a:rPr>
                <a:latin typeface="Courier"/>
              </a:rPr>
              <a:t>str()</a:t>
            </a:r>
            <a:r>
              <a:rPr/>
              <a:t> is just base R. However, </a:t>
            </a:r>
            <a:r>
              <a:rPr>
                <a:latin typeface="Courier"/>
              </a:rPr>
              <a:t>glimpse()</a:t>
            </a:r>
            <a:r>
              <a:rPr/>
              <a:t> is noted for giving nicer readout for especially wide data.</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of my favorite data manipulation functions in base </a:t>
            </a:r>
            <a:r>
              <a:rPr>
                <a:latin typeface="Courier"/>
              </a:rPr>
              <a:t>R</a:t>
            </a:r>
            <a:r>
              <a:rPr/>
              <a:t> is the names function. People who work with data a lot spend a lot of time thinking about what their data should be named and so names are often quite descriptive. So if the output of </a:t>
            </a:r>
            <a:r>
              <a:rPr>
                <a:latin typeface="Courier"/>
              </a:rPr>
              <a:t>str</a:t>
            </a:r>
            <a:r>
              <a:rPr/>
              <a:t> or </a:t>
            </a:r>
            <a:r>
              <a:rPr>
                <a:latin typeface="Courier"/>
              </a:rPr>
              <a:t>glimpse</a:t>
            </a:r>
            <a:r>
              <a:rPr/>
              <a:t> is a bit scary (I often think it is) then names is a good first step to understanding your data.</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demonstrate this concept I will again use the </a:t>
            </a:r>
            <a:r>
              <a:rPr>
                <a:latin typeface="Courier"/>
              </a:rPr>
              <a:t>gapminder</a:t>
            </a:r>
            <a:r>
              <a:rPr/>
              <a:t> dataset. These data are in long-format. These are </a:t>
            </a:r>
            <a:r>
              <a:rPr>
                <a:latin typeface="Courier"/>
              </a:rPr>
              <a:t>longitudinal</a:t>
            </a:r>
            <a:r>
              <a:rPr/>
              <a:t> data of demographic and economic metrics by country. You can tell these are long-format data because each observation or </a:t>
            </a:r>
            <a:r>
              <a:rPr>
                <a:latin typeface="Courier"/>
              </a:rPr>
              <a:t>country-year</a:t>
            </a:r>
            <a:r>
              <a:rPr/>
              <a:t> gets it’s own cell.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a:t>
            </a:r>
            <a:r>
              <a:rPr>
                <a:latin typeface="Courier"/>
              </a:rPr>
              <a:t>wide format</a:t>
            </a:r>
            <a:r>
              <a:rPr/>
              <a:t> data each subject gets it’s own row or cell. In our longitudinal dataset above each country is a case. Thankfully, R lets us very easily shift our perspective from long to wide format data and back again with a few quick, painless commands. Above I have rearranged the dataset so that each case (country) gets its own row and each year_measurement gets it’s own column in that row. Above I am also previewing the next lesson which is </a:t>
            </a:r>
            <a:r>
              <a:rPr>
                <a:latin typeface="Courier"/>
              </a:rPr>
              <a:t>Exploring Data</a:t>
            </a:r>
            <a:r>
              <a:rPr/>
              <a:t>. I am introducing you to some very common and </a:t>
            </a:r>
            <a:r>
              <a:rPr b="1"/>
              <a:t>very</a:t>
            </a:r>
            <a:r>
              <a:rPr/>
              <a:t> useful </a:t>
            </a:r>
            <a:r>
              <a:rPr i="1"/>
              <a:t>dplyr</a:t>
            </a:r>
            <a:r>
              <a:rPr/>
              <a:t> syntax. The </a:t>
            </a:r>
            <a:r>
              <a:rPr>
                <a:latin typeface="Courier"/>
              </a:rPr>
              <a:t>%&gt;%</a:t>
            </a:r>
            <a:r>
              <a:rPr/>
              <a:t> operator is standard practice. In plain english the direct translation of the </a:t>
            </a:r>
            <a:r>
              <a:rPr>
                <a:latin typeface="Courier"/>
              </a:rPr>
              <a:t>%&gt;%</a:t>
            </a:r>
            <a:r>
              <a:rPr/>
              <a:t> operator is </a:t>
            </a:r>
            <a:r>
              <a:rPr>
                <a:latin typeface="Courier"/>
              </a:rPr>
              <a:t>then</a:t>
            </a:r>
            <a:r>
              <a:rPr/>
              <a:t>. So above I am saying pivot my data into wide format on the year axis, giving each column the name from the year and the value from life expectancy, population, and gdp per capita. </a:t>
            </a:r>
            <a:r>
              <a:rPr>
                <a:latin typeface="Courier"/>
              </a:rPr>
              <a:t>Then</a:t>
            </a:r>
            <a:r>
              <a:rPr/>
              <a:t> give me only the first 2 rows of that table (that’s what the command </a:t>
            </a:r>
            <a:r>
              <a:rPr>
                <a:latin typeface="Courier"/>
              </a:rPr>
              <a:t>head(n)</a:t>
            </a:r>
            <a:r>
              <a:rPr/>
              <a:t>) does. </a:t>
            </a:r>
            <a:r>
              <a:rPr>
                <a:latin typeface="Courier"/>
              </a:rPr>
              <a:t>Then</a:t>
            </a:r>
            <a:r>
              <a:rPr/>
              <a:t> give me only the first 5 columns with the </a:t>
            </a:r>
            <a:r>
              <a:rPr>
                <a:latin typeface="Courier"/>
              </a:rPr>
              <a:t>select(1:5)</a:t>
            </a:r>
            <a:r>
              <a:rPr/>
              <a:t> command.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R (as it’s affectionately called) is great, but the cool thing about R is it’s huge ecosystem of packages which are constantly being expanded both on the central repository for the R programming language Comprehensive R Archive Network (CRAN) and outside of CRAN. So far we have largely been interacting with Base R, but to date there are over 22,000 packages on CRAN. That’s not even the tip of the ice berg. Beyond the offical R CRAN site, there are many thousands (possibly more) packages that can be downloaded directly from developers and researchers GIT libraries.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read.table()</a:t>
            </a:r>
            <a:r>
              <a:rPr/>
              <a:t> is Base R’s primary means of importing data, allowing the user to specify a variety of options. By default </a:t>
            </a:r>
            <a:r>
              <a:rPr>
                <a:latin typeface="Courier"/>
              </a:rPr>
              <a:t>read.table</a:t>
            </a:r>
            <a:r>
              <a:rPr/>
              <a:t> will not know what delimiter (or separator hence the word </a:t>
            </a:r>
            <a:r>
              <a:rPr>
                <a:latin typeface="Courier"/>
              </a:rPr>
              <a:t>sep</a:t>
            </a:r>
            <a:r>
              <a:rPr/>
              <a:t> in the second </a:t>
            </a:r>
            <a:r>
              <a:rPr>
                <a:latin typeface="Courier"/>
              </a:rPr>
              <a:t>read.table()</a:t>
            </a:r>
            <a:r>
              <a:rPr/>
              <a:t> call). It will also not know whether or not your data include a </a:t>
            </a:r>
            <a:r>
              <a:rPr>
                <a:latin typeface="Courier"/>
              </a:rPr>
              <a:t>header</a:t>
            </a:r>
            <a:r>
              <a:rPr/>
              <a:t> and so when you go to look at the first row of data it will just spit out your header as one long string.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Thankfully, you can fix this with a few extra parameters. However, there are smarter, less clumsy options out there.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R does not include a package for loading in Excel files. For this we’ll use the tidyverse package </a:t>
            </a:r>
            <a:r>
              <a:rPr>
                <a:latin typeface="Courier"/>
              </a:rPr>
              <a:t>readxl</a:t>
            </a:r>
            <a:r>
              <a:rPr/>
              <a:t>, which can read both legacy </a:t>
            </a:r>
            <a:r>
              <a:rPr>
                <a:latin typeface="Courier"/>
              </a:rPr>
              <a:t>xls</a:t>
            </a:r>
            <a:r>
              <a:rPr/>
              <a:t> as well as more recent </a:t>
            </a:r>
            <a:r>
              <a:rPr>
                <a:latin typeface="Courier"/>
              </a:rPr>
              <a:t>xlsx</a:t>
            </a:r>
            <a:r>
              <a:rPr/>
              <a:t> files. This is tidyverse, and so </a:t>
            </a:r>
            <a:r>
              <a:rPr>
                <a:latin typeface="Courier"/>
              </a:rPr>
              <a:t>read_excel()</a:t>
            </a:r>
            <a:r>
              <a:rPr/>
              <a:t> loads a tibble object. If you need or want a data frame, you’ll need to adjust for that…</a:t>
            </a:r>
          </a:p>
          <a:p>
            <a:pPr lvl="0" indent="0" marL="0">
              <a:buNone/>
            </a:pPr>
          </a:p>
          <a:p>
            <a:pPr lvl="0" indent="0" marL="0">
              <a:buNone/>
            </a:pPr>
            <a:r>
              <a:rPr/>
              <a:t>You can specify specific sheets and ranges with the </a:t>
            </a:r>
            <a:r>
              <a:rPr>
                <a:latin typeface="Courier"/>
              </a:rPr>
              <a:t>sheet</a:t>
            </a:r>
            <a:r>
              <a:rPr/>
              <a:t> and </a:t>
            </a:r>
            <a:r>
              <a:rPr>
                <a:latin typeface="Courier"/>
              </a:rPr>
              <a:t>range</a:t>
            </a:r>
            <a:r>
              <a:rPr/>
              <a:t> arguments…Additional options and their defaults can be found with </a:t>
            </a:r>
            <a:r>
              <a:rPr>
                <a:latin typeface="Courier"/>
              </a:rPr>
              <a:t>?readxl</a:t>
            </a:r>
            <a:r>
              <a:rPr/>
              <a:t> or by visiting https://readxl.tidyverse.org/.</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importing data, it’s common to encounter inconsistencies — blank cells, placeholder codes like 99, or stray spaces in text columns.</a:t>
            </a:r>
          </a:p>
          <a:p>
            <a:pPr lvl="0" indent="0" marL="0">
              <a:buNone/>
            </a:pPr>
          </a:p>
          <a:p>
            <a:pPr lvl="0" indent="0" marL="0">
              <a:buNone/>
            </a:pPr>
            <a:r>
              <a:rPr/>
              <a:t>The na.strings argument lets you tell R what should count as missing (NA).</a:t>
            </a:r>
          </a:p>
          <a:p>
            <a:pPr lvl="0" indent="0" marL="0">
              <a:buNone/>
            </a:pPr>
          </a:p>
          <a:p>
            <a:pPr lvl="0" indent="0" marL="0">
              <a:buNone/>
            </a:pPr>
            <a:r>
              <a:rPr/>
              <a:t>Similarly, strip.white = TRUE automatically cleans up spaces around character data.</a:t>
            </a:r>
          </a:p>
          <a:p>
            <a:pPr lvl="0" indent="0" marL="0">
              <a:buNone/>
            </a:pPr>
          </a:p>
          <a:p>
            <a:pPr lvl="0" indent="0" marL="0">
              <a:buNone/>
            </a:pPr>
            <a:r>
              <a:rPr/>
              <a:t>Some files (especially older exports) might not include a header row — header = FALSE handles this.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read.csv()</a:t>
            </a:r>
            <a:r>
              <a:rPr/>
              <a:t> and </a:t>
            </a:r>
            <a:r>
              <a:rPr>
                <a:latin typeface="Courier"/>
              </a:rPr>
              <a:t>read_csv()</a:t>
            </a:r>
            <a:r>
              <a:rPr/>
              <a:t> are very similar. </a:t>
            </a:r>
            <a:r>
              <a:rPr>
                <a:latin typeface="Courier"/>
              </a:rPr>
              <a:t>read_csv()</a:t>
            </a:r>
            <a:r>
              <a:rPr/>
              <a:t> is ostensibly faster, it also loads data into a tibble as opposed to a data frame, and has more user friendly defaults. It does, however, require loading additional packages.</a:t>
            </a:r>
          </a:p>
          <a:p>
            <a:pPr lvl="0" indent="0" marL="0">
              <a:buNone/>
            </a:pPr>
          </a:p>
          <a:p>
            <a:pPr lvl="0" indent="0" marL="0">
              <a:buNone/>
            </a:pPr>
            <a:r>
              <a:rPr/>
              <a:t>As with </a:t>
            </a:r>
            <a:r>
              <a:rPr>
                <a:latin typeface="Courier"/>
              </a:rPr>
              <a:t>read.csv()</a:t>
            </a:r>
            <a:r>
              <a:rPr/>
              <a:t> and </a:t>
            </a:r>
            <a:r>
              <a:rPr>
                <a:latin typeface="Courier"/>
              </a:rPr>
              <a:t>read.delim</a:t>
            </a:r>
            <a:r>
              <a:rPr/>
              <a:t>, </a:t>
            </a:r>
            <a:r>
              <a:rPr>
                <a:latin typeface="Courier"/>
              </a:rPr>
              <a:t>read_csv()</a:t>
            </a:r>
            <a:r>
              <a:rPr/>
              <a:t> and </a:t>
            </a:r>
            <a:r>
              <a:rPr>
                <a:latin typeface="Courier"/>
              </a:rPr>
              <a:t>read_tsv()</a:t>
            </a:r>
            <a:r>
              <a:rPr/>
              <a:t> – for tab separated values – are wrappers on </a:t>
            </a:r>
            <a:r>
              <a:rPr>
                <a:latin typeface="Courier"/>
              </a:rPr>
              <a:t>read_delim()</a:t>
            </a:r>
            <a:r>
              <a:rPr/>
              <a:t> that is more flexible.</a:t>
            </a:r>
          </a:p>
          <a:p>
            <a:pPr lvl="0" indent="0" marL="0">
              <a:buNone/>
            </a:pPr>
          </a:p>
          <a:p>
            <a:pPr lvl="0" indent="0" marL="0">
              <a:buNone/>
            </a:pPr>
            <a:r>
              <a:rPr>
                <a:latin typeface="Courier"/>
              </a:rPr>
              <a:t>read_csv()</a:t>
            </a:r>
            <a:r>
              <a:rPr/>
              <a:t> assumes the file has a header, it trims white space by default, and that missing data are either blank cells or contain the character </a:t>
            </a:r>
            <a:r>
              <a:rPr>
                <a:latin typeface="Courier"/>
              </a:rPr>
              <a:t>NA</a:t>
            </a:r>
            <a:r>
              <a:rPr/>
              <a:t>. To adjust these, use the arguments </a:t>
            </a:r>
            <a:r>
              <a:rPr>
                <a:latin typeface="Courier"/>
              </a:rPr>
              <a:t>col_names = FALSE</a:t>
            </a:r>
            <a:r>
              <a:rPr/>
              <a:t>, </a:t>
            </a:r>
            <a:r>
              <a:rPr>
                <a:latin typeface="Courier"/>
              </a:rPr>
              <a:t>na = na_values</a:t>
            </a:r>
            <a:r>
              <a:rPr/>
              <a:t>, </a:t>
            </a:r>
            <a:r>
              <a:rPr>
                <a:latin typeface="Courier"/>
              </a:rPr>
              <a:t>trim_ws = FALSE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data.table package is a modern, high-performance alternative for working with data in R. It’s known for being extremely fast because it’s built on a C/C++ backend, which makes it ideal for large datasets or performance-sensitive tasks.</a:t>
            </a:r>
          </a:p>
          <a:p>
            <a:pPr lvl="0" indent="0" marL="0">
              <a:buNone/>
            </a:pPr>
          </a:p>
          <a:p>
            <a:pPr lvl="0" indent="0" marL="0">
              <a:buNone/>
            </a:pPr>
            <a:r>
              <a:rPr/>
              <a:t>Here I’m using a simple benchmark comparison between read.csv() — the base R function — and fread() from data.table. Even with a small dataset, you’ll notice that fread() runs several times faster. On larger files, the difference can be dramatic — sometimes 10× to 100× faster.</a:t>
            </a:r>
          </a:p>
          <a:p>
            <a:pPr lvl="0" indent="0" marL="0">
              <a:buNone/>
            </a:pPr>
          </a:p>
          <a:p>
            <a:pPr lvl="0" indent="0" marL="0">
              <a:buNone/>
            </a:pPr>
            <a:r>
              <a:rPr/>
              <a:t>That said, data.table syntax looks a bit different from dplyr or base R, so the learning curve can feel steeper at first. Once you get comfortable, though, it’s incredibly efficient for data manipulation and is widely used in production workflows.</a:t>
            </a:r>
          </a:p>
          <a:p>
            <a:pPr lvl="0" indent="0" marL="0">
              <a:buNone/>
            </a:pPr>
          </a:p>
          <a:p>
            <a:pPr lvl="0" indent="0" marL="0">
              <a:buNone/>
            </a:pPr>
            <a:r>
              <a:rPr/>
              <a:t>This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At least initially, everything you do in R will be applying functions to data. In the above section, the mathematical operators, </a:t>
            </a:r>
            <a:r>
              <a:rPr>
                <a:latin typeface="Courier"/>
              </a:rPr>
              <a:t>sqrt()</a:t>
            </a:r>
            <a:r>
              <a:rPr/>
              <a:t>, and </a:t>
            </a:r>
            <a:r>
              <a:rPr>
                <a:latin typeface="Courier"/>
              </a:rPr>
              <a:t>log10()</a:t>
            </a:r>
            <a:r>
              <a:rPr/>
              <a:t>, are all functions. Functions take in data (or values) and process them, providing an output. The output is displayed in your console by default.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of the most most reproducible things you can do in R (and most programming languages) is defining your own functions. User-defined functions are a way of reusing and recycling common workflows. It is a powerful way of saving you time, and allowing others to reuse and recycle your code.</a:t>
            </a:r>
          </a:p>
          <a:p>
            <a:pPr lvl="0" indent="0" marL="0">
              <a:buNone/>
            </a:pPr>
          </a:p>
          <a:p>
            <a:pPr lvl="0" indent="0" marL="0">
              <a:buNone/>
            </a:pPr>
            <a:r>
              <a:rPr/>
              <a:t>The values at the top “x” and “y” are called parameters. They are the values that the function </a:t>
            </a:r>
            <a:r>
              <a:rPr>
                <a:latin typeface="Courier"/>
              </a:rPr>
              <a:t>takes in</a:t>
            </a:r>
            <a:r>
              <a:rPr/>
              <a:t> and does something with. Some action. It’s good practice to always define what you intend for users of your function (yes even you at a later date might forget why you wrote a function or what it does) to do with it. At a minimum you should comment (the </a:t>
            </a:r>
            <a:r>
              <a:rPr>
                <a:latin typeface="Courier"/>
              </a:rPr>
              <a:t>#</a:t>
            </a:r>
            <a:r>
              <a:rPr/>
              <a:t> in the top) with what is expected to go in and out of a function.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While having outputs directed to the console is convenient for interactive analysis, often we need to store data and / or outputs for later use. We do this with variable assignment, where the greater than and dash are used to assign the values (object) on the right to the name (variable) on the left. When naming variables in R, keep in mind that variable names: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Should first and foremost be meaningful. This is not a rule, just best practice. Cannot start with a number or a dot followed by a number. Cannot contain spaces or hyphens. Can contain letters, numbers, dots, and underscores.</a:t>
            </a:r>
          </a:p>
          <a:p>
            <a:pPr lvl="0" indent="0" marL="0">
              <a:buNone/>
            </a:pPr>
          </a:p>
          <a:p>
            <a:pPr lvl="0" indent="0" marL="0">
              <a:buNone/>
            </a:pPr>
            <a:r>
              <a:rPr/>
              <a:t>Additionally, some words are reserved and cannot be used, such as if and for. More details can be found with </a:t>
            </a:r>
            <a:r>
              <a:rPr>
                <a:latin typeface="Courier"/>
              </a:rPr>
              <a:t>?make.names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types are elemental data constructs that R is able to distinguish between. The most common data types in R are numeric, character, and boolean. These come with intrinsic properties, for example, numeric data can be computed (added, divided, etc), character data can be strung together (character data, especially groups of characters are referred to as strings), and boolean data facilitates working with dichotomous values.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basic is a </a:t>
            </a:r>
            <a:r>
              <a:rPr>
                <a:latin typeface="Courier"/>
              </a:rPr>
              <a:t>vector</a:t>
            </a:r>
            <a:r>
              <a:rPr/>
              <a:t>. In fact, everything in R is a vector, and all other data structures are composed of vectors in various ways. It’s convenient to think of a vector as a simple list of like things; everything in a vector needs to be of the same data type. So, a vector can be:</a:t>
            </a:r>
          </a:p>
          <a:p>
            <a:pPr lvl="0" indent="0" marL="0">
              <a:buNone/>
            </a:pPr>
          </a:p>
          <a:p>
            <a:pPr lvl="0"/>
            <a:r>
              <a:rPr/>
              <a:t>numeric, holding numeric data;</a:t>
            </a:r>
          </a:p>
          <a:p>
            <a:pPr lvl="0" indent="0" marL="0">
              <a:buNone/>
            </a:pPr>
          </a:p>
          <a:p>
            <a:pPr lvl="0"/>
            <a:r>
              <a:rPr/>
              <a:t>character, holding character data; or</a:t>
            </a:r>
          </a:p>
          <a:p>
            <a:pPr lvl="0" indent="0" marL="0">
              <a:buNone/>
            </a:pPr>
          </a:p>
          <a:p>
            <a:pPr lvl="0"/>
            <a:r>
              <a:rPr/>
              <a:t>logical, holding boolean data.</a:t>
            </a:r>
          </a:p>
          <a:p>
            <a:pPr lvl="0" indent="0" marL="0">
              <a:buNone/>
            </a:pPr>
          </a:p>
          <a:p>
            <a:pPr lvl="0" indent="0" marL="0">
              <a:buNone/>
            </a:pPr>
            <a:r>
              <a:rPr/>
              <a:t>A vector can be created with </a:t>
            </a:r>
            <a:r>
              <a:rPr>
                <a:latin typeface="Courier"/>
              </a:rPr>
              <a:t>c()</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matrix is a vector with 2 dimensions; while a vector only has a length, a matrix is a grid with both length and width, or alternatively, rows and columns.</a:t>
            </a:r>
          </a:p>
          <a:p>
            <a:pPr lvl="0" indent="0" marL="0">
              <a:buNone/>
            </a:pPr>
          </a:p>
          <a:p>
            <a:pPr lvl="0" indent="0" marL="0">
              <a:buNone/>
            </a:pPr>
            <a:r>
              <a:rPr/>
              <a:t>You can create a matrix with the </a:t>
            </a:r>
            <a:r>
              <a:rPr>
                <a:latin typeface="Courier"/>
              </a:rPr>
              <a:t>matrix()</a:t>
            </a:r>
            <a:r>
              <a:rPr/>
              <a:t> function, providing it first with a series of values followed by an argument for the number of rows or columns you’d like. A matrix must be perfectly rectangular, that is, each column must be of equal length. R will recycle values to ensure this condition is met. A matrix must also be atomic - the data type must be the same throughout.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general, these will be the most likely data structures that you’ll encounter and the most familiar, as they are designed for tabular data and look like a spreadsheet.</a:t>
            </a:r>
          </a:p>
          <a:p>
            <a:pPr lvl="0" indent="0" marL="0">
              <a:buNone/>
            </a:pPr>
          </a:p>
          <a:p>
            <a:pPr lvl="0" indent="0" marL="0">
              <a:buNone/>
            </a:pPr>
            <a:r>
              <a:rPr/>
              <a:t>Data frames are collections of vectors, where each vector must be of the same length, but can be of a different data type. If you import data from an Excel or csv file, these will be read in as a data frame. You can also create them with the </a:t>
            </a:r>
            <a:r>
              <a:rPr>
                <a:latin typeface="Courier"/>
              </a:rPr>
              <a:t>data.frame()</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Like data frames, lists are collections of vectors. However, unlike data frames, the length of these vectors can change. So far, this is the only non-rectangular data structure that we have to work with.</a:t>
            </a:r>
          </a:p>
          <a:p>
            <a:pPr lvl="0" indent="0" marL="0">
              <a:buNone/>
            </a:pPr>
          </a:p>
          <a:p>
            <a:pPr lvl="0" indent="0" marL="0">
              <a:buNone/>
            </a:pPr>
            <a:r>
              <a:rPr/>
              <a:t>If you are importing tabular data, you are unlikely to create a list yourself, however, when performing operations (using functions) on your data, the output, or result, might be in the form of a list. For demonstration puropses, a list can be created with the </a:t>
            </a:r>
            <a:r>
              <a:rPr>
                <a:latin typeface="Courier"/>
              </a:rPr>
              <a:t>list()</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Arrays are an n-dimensional generalization of the matrix.</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function </a:t>
            </a:r>
            <a:r>
              <a:rPr>
                <a:latin typeface="Courier"/>
              </a:rPr>
              <a:t>class()</a:t>
            </a:r>
            <a:r>
              <a:rPr/>
              <a:t> will tell you what kind of structure your data are held in. </a:t>
            </a:r>
            <a:r>
              <a:rPr>
                <a:latin typeface="Courier"/>
              </a:rPr>
              <a:t>class()</a:t>
            </a:r>
            <a:r>
              <a:rPr/>
              <a:t>, when called on a vector, will report on the data type, which should be read as the type of atomic vector you have. An array is a multi-dimensional vector, a matrix is the special case where there are only two dimensions.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You would use a list.</a:t>
            </a:r>
          </a:p>
          <a:p>
            <a:pPr lvl="0" indent="0" marL="0">
              <a:buNone/>
            </a:pPr>
          </a:p>
          <a:p>
            <a:pPr lvl="0" indent="0" marL="0">
              <a:buNone/>
            </a:pPr>
            <a:r>
              <a:rPr/>
              <a:t>You might use something like this: </a:t>
            </a:r>
            <a:r>
              <a:rPr>
                <a:latin typeface="Courier"/>
              </a:rPr>
              <a:t>array(rep(1:10, 5), dim = c(10, 10, 5))</a:t>
            </a:r>
          </a:p>
          <a:p>
            <a:pPr lvl="0" indent="0" marL="0">
              <a:buNone/>
            </a:pPr>
          </a:p>
          <a:p>
            <a:pPr lvl="0" indent="0" marL="0">
              <a:buNone/>
            </a:pPr>
            <a:r>
              <a:rPr/>
              <a:t>Once I have loaded a new dataset one of the first things I like to do is insepect the columns so I can get an idea of the types of data that might be present. This can be easily done with function </a:t>
            </a:r>
            <a:r>
              <a:rPr>
                <a:latin typeface="Courier"/>
              </a:rPr>
              <a:t>names</a:t>
            </a:r>
            <a:r>
              <a:rPr/>
              <a:t> which is native to Base R. I won’t load all of the name here to save space, but I will load a few.</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Columns in </a:t>
            </a:r>
            <a:r>
              <a:rPr>
                <a:latin typeface="Courier"/>
              </a:rPr>
              <a:t>R</a:t>
            </a:r>
            <a:r>
              <a:rPr/>
              <a:t> can be accessed using the </a:t>
            </a:r>
            <a:r>
              <a:rPr>
                <a:latin typeface="Courier"/>
              </a:rPr>
              <a:t>$</a:t>
            </a:r>
            <a:r>
              <a:rPr/>
              <a:t> operator. If you’re savvy with dplyr they can also be individually accessed using the </a:t>
            </a:r>
            <a:r>
              <a:rPr>
                <a:latin typeface="Courier"/>
              </a:rPr>
              <a:t>%&gt;%</a:t>
            </a:r>
            <a:r>
              <a:rPr/>
              <a:t> and </a:t>
            </a:r>
            <a:r>
              <a:rPr>
                <a:latin typeface="Courier"/>
              </a:rPr>
              <a:t>select()</a:t>
            </a:r>
            <a:r>
              <a:rPr/>
              <a:t> functions.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You will want to access the </a:t>
            </a:r>
            <a:r>
              <a:rPr>
                <a:latin typeface="Courier"/>
              </a:rPr>
              <a:t>gender</a:t>
            </a:r>
            <a:r>
              <a:rPr/>
              <a:t> column to answer questions about gender. We can access all the genders for the study using </a:t>
            </a:r>
            <a:r>
              <a:rPr>
                <a:latin typeface="Courier"/>
              </a:rPr>
              <a:t>health_df$gender</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ggplot2</a:t>
            </a:r>
            <a:r>
              <a:rPr/>
              <a:t> is one of the most commonly used visualisation packages in </a:t>
            </a:r>
            <a:r>
              <a:rPr>
                <a:latin typeface="Courier"/>
              </a:rPr>
              <a:t>R</a:t>
            </a:r>
            <a:r>
              <a:rPr/>
              <a:t>. Here I will demonstrate how to generate your own plot from the health data csv file.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pages can be both enlightening and frustrating, as they assume some pre-existing familiarity with certain concepts as well as reading this kind of documentation.</a:t>
            </a:r>
          </a:p>
          <a:p>
            <a:pPr lvl="0" indent="0" marL="0">
              <a:buNone/>
            </a:pPr>
          </a:p>
          <a:p>
            <a:pPr lvl="0" indent="0" marL="0">
              <a:buNone/>
            </a:pPr>
            <a:r>
              <a:rPr/>
              <a:t>The second is from forums. These are useful when you have a specific issue that you’re trying to resolve, and can often provide a quick fix, but the explanations also often require a degree of familiarity to make sense.</a:t>
            </a:r>
          </a:p>
          <a:p>
            <a:pPr lvl="0" indent="0" marL="0">
              <a:buNone/>
            </a:pPr>
          </a:p>
          <a:p>
            <a:pPr lvl="0" indent="0" marL="0">
              <a:buNone/>
            </a:pPr>
            <a:r>
              <a:rPr/>
              <a:t>The third is blog posts and course supports posted on line. These generally provide more context than forum posts, and are useful when tyring to learn a new approach or a new library.</a:t>
            </a:r>
          </a:p>
          <a:p>
            <a:pPr lvl="0" indent="0" marL="0">
              <a:buNone/>
            </a:pPr>
          </a:p>
          <a:p>
            <a:pPr lvl="0" indent="0" marL="0">
              <a:buNone/>
            </a:pPr>
            <a:r>
              <a:rPr/>
              <a:t>The fourth is journal publications that accompany the release of specific packages or libraries. These offer in depth descriptions of the packages and their arguments, often with examples.</a:t>
            </a:r>
          </a:p>
          <a:p>
            <a:pPr lvl="0" indent="0" marL="0">
              <a:buNone/>
            </a:pPr>
          </a:p>
          <a:p>
            <a:pPr lvl="0" indent="0" marL="0">
              <a:buNone/>
            </a:pPr>
            <a:r>
              <a:rPr/>
              <a:t>The fourth is more in depth texts. Many of these are available publicly online.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5A4276-9034-4F68-8B2D-8D580C8476C4}" type="datetimeFigureOut">
              <a:rPr lang="en-US" smtClean="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F9AB11-5268-4777-85B6-D98FC480BF1C}" type="slidenum">
              <a:rPr lang="en-US" smtClean="0"/>
              <a:t>‹#›</a:t>
            </a:fld>
            <a:endParaRPr lang="en-US"/>
          </a:p>
        </p:txBody>
      </p:sp>
      <p:sp>
        <p:nvSpPr>
          <p:cNvPr id="8" name="Content Placeholder 7">
            <a:extLst>
              <a:ext uri="{FF2B5EF4-FFF2-40B4-BE49-F238E27FC236}">
                <a16:creationId xmlns:a16="http://schemas.microsoft.com/office/drawing/2014/main" id="{EA103B0F-8D17-54FA-FAEC-B3D1C167DD47}"/>
              </a:ext>
            </a:extLst>
          </p:cNvPr>
          <p:cNvSpPr>
            <a:spLocks noGrp="1"/>
          </p:cNvSpPr>
          <p:nvPr>
            <p:ph sz="quarter" idx="13"/>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51438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C5A4276-9034-4F68-8B2D-8D580C8476C4}" type="datetimeFigureOut">
              <a:rPr lang="en-US" smtClean="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F9AB11-5268-4777-85B6-D98FC480BF1C}"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1" name="Content Placeholder 10">
            <a:extLst>
              <a:ext uri="{FF2B5EF4-FFF2-40B4-BE49-F238E27FC236}">
                <a16:creationId xmlns:a16="http://schemas.microsoft.com/office/drawing/2014/main" id="{3DBFF879-BC7C-A02D-6CB3-931979FF80DE}"/>
              </a:ext>
            </a:extLst>
          </p:cNvPr>
          <p:cNvSpPr>
            <a:spLocks noGrp="1"/>
          </p:cNvSpPr>
          <p:nvPr>
            <p:ph sz="quarter" idx="13"/>
          </p:nvPr>
        </p:nvSpPr>
        <p:spPr>
          <a:xfrm>
            <a:off x="1096963" y="758825"/>
            <a:ext cx="10058400" cy="3584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67039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C5A4276-9034-4F68-8B2D-8D580C8476C4}" type="datetimeFigureOut">
              <a:rPr lang="en-US" smtClean="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F9AB11-5268-4777-85B6-D98FC480BF1C}"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59020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C5A4276-9034-4F68-8B2D-8D580C8476C4}" type="datetimeFigureOut">
              <a:rPr lang="en-US" smtClean="0"/>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F9AB11-5268-4777-85B6-D98FC480BF1C}" type="slidenum">
              <a:rPr lang="en-US" smtClean="0"/>
              <a:t>‹#›</a:t>
            </a:fld>
            <a:endParaRPr lang="en-US"/>
          </a:p>
        </p:txBody>
      </p:sp>
    </p:spTree>
    <p:extLst>
      <p:ext uri="{BB962C8B-B14F-4D97-AF65-F5344CB8AC3E}">
        <p14:creationId xmlns:p14="http://schemas.microsoft.com/office/powerpoint/2010/main" val="242357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C5A4276-9034-4F68-8B2D-8D580C8476C4}" type="datetimeFigureOut">
              <a:rPr lang="en-US" smtClean="0"/>
              <a:t>10/16/2025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1F9AB11-5268-4777-85B6-D98FC480BF1C}" type="slidenum">
              <a:rPr lang="en-US" smtClean="0"/>
              <a:t>‹#›</a:t>
            </a:fld>
            <a:endParaRPr lang="en-US"/>
          </a:p>
        </p:txBody>
      </p:sp>
    </p:spTree>
    <p:extLst>
      <p:ext uri="{BB962C8B-B14F-4D97-AF65-F5344CB8AC3E}">
        <p14:creationId xmlns:p14="http://schemas.microsoft.com/office/powerpoint/2010/main" val="3684789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C5A4276-9034-4F68-8B2D-8D580C8476C4}" type="datetimeFigureOut">
              <a:rPr lang="en-US" smtClean="0"/>
              <a:t>10/16/2025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1F9AB11-5268-4777-85B6-D98FC480BF1C}" type="slidenum">
              <a:rPr lang="en-US" smtClean="0"/>
              <a:t>‹#›</a:t>
            </a:fld>
            <a:endParaRPr lang="en-US"/>
          </a:p>
        </p:txBody>
      </p:sp>
    </p:spTree>
    <p:extLst>
      <p:ext uri="{BB962C8B-B14F-4D97-AF65-F5344CB8AC3E}">
        <p14:creationId xmlns:p14="http://schemas.microsoft.com/office/powerpoint/2010/main" val="27384740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2C5A4276-9034-4F68-8B2D-8D580C8476C4}" type="datetimeFigureOut">
              <a:rPr lang="en-US" smtClean="0"/>
              <a:t>10/16/2025</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51F9AB11-5268-4777-85B6-D98FC480BF1C}" type="slidenum">
              <a:rPr lang="en-US" smtClean="0"/>
              <a:t>‹#›</a:t>
            </a:fld>
            <a:endParaRPr lang="en-US"/>
          </a:p>
        </p:txBody>
      </p:sp>
    </p:spTree>
    <p:extLst>
      <p:ext uri="{BB962C8B-B14F-4D97-AF65-F5344CB8AC3E}">
        <p14:creationId xmlns:p14="http://schemas.microsoft.com/office/powerpoint/2010/main" val="1675521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2C5A4276-9034-4F68-8B2D-8D580C8476C4}" type="datetimeFigureOut">
              <a:rPr lang="en-US" smtClean="0"/>
              <a:t>10/16/2025</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51F9AB11-5268-4777-85B6-D98FC480BF1C}" type="slidenum">
              <a:rPr lang="en-US" smtClean="0"/>
              <a:t>‹#›</a:t>
            </a:fld>
            <a:endParaRPr lang="en-US"/>
          </a:p>
        </p:txBody>
      </p:sp>
    </p:spTree>
    <p:extLst>
      <p:ext uri="{BB962C8B-B14F-4D97-AF65-F5344CB8AC3E}">
        <p14:creationId xmlns:p14="http://schemas.microsoft.com/office/powerpoint/2010/main" val="1510868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C5A4276-9034-4F68-8B2D-8D580C8476C4}" type="datetimeFigureOut">
              <a:rPr lang="en-US" smtClean="0"/>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F9AB11-5268-4777-85B6-D98FC480BF1C}" type="slidenum">
              <a:rPr lang="en-US" smtClean="0"/>
              <a:t>‹#›</a:t>
            </a:fld>
            <a:endParaRPr lang="en-US"/>
          </a:p>
        </p:txBody>
      </p:sp>
    </p:spTree>
    <p:extLst>
      <p:ext uri="{BB962C8B-B14F-4D97-AF65-F5344CB8AC3E}">
        <p14:creationId xmlns:p14="http://schemas.microsoft.com/office/powerpoint/2010/main" val="16513762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5A4276-9034-4F68-8B2D-8D580C8476C4}" type="datetimeFigureOut">
              <a:rPr lang="en-US" smtClean="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F9AB11-5268-4777-85B6-D98FC480BF1C}" type="slidenum">
              <a:rPr lang="en-US" smtClean="0"/>
              <a:t>‹#›</a:t>
            </a:fld>
            <a:endParaRPr lang="en-US"/>
          </a:p>
        </p:txBody>
      </p:sp>
    </p:spTree>
    <p:extLst>
      <p:ext uri="{BB962C8B-B14F-4D97-AF65-F5344CB8AC3E}">
        <p14:creationId xmlns:p14="http://schemas.microsoft.com/office/powerpoint/2010/main" val="29550958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5A4276-9034-4F68-8B2D-8D580C8476C4}" type="datetimeFigureOut">
              <a:rPr lang="en-US" smtClean="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F9AB11-5268-4777-85B6-D98FC480BF1C}" type="slidenum">
              <a:rPr lang="en-US" smtClean="0"/>
              <a:t>‹#›</a:t>
            </a:fld>
            <a:endParaRPr lang="en-US"/>
          </a:p>
        </p:txBody>
      </p:sp>
    </p:spTree>
    <p:extLst>
      <p:ext uri="{BB962C8B-B14F-4D97-AF65-F5344CB8AC3E}">
        <p14:creationId xmlns:p14="http://schemas.microsoft.com/office/powerpoint/2010/main" val="365769903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anchor="b"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1097280" y="1845734"/>
            <a:ext cx="10058400" cy="4023360"/>
          </a:xfrm>
          <a:prstGeom prst="rect">
            <a:avLst/>
          </a:prstGeom>
        </p:spPr>
        <p:txBody>
          <a:bodyPr bIns="45720" lIns="0" rIns="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1097280" y="6459785"/>
            <a:ext cx="2472271" cy="365125"/>
          </a:xfrm>
          <a:prstGeom prst="rect">
            <a:avLst/>
          </a:prstGeom>
        </p:spPr>
        <p:txBody>
          <a:bodyPr anchor="ctr" bIns="45720" lIns="91440" rIns="91440" rtlCol="0" tIns="45720" vert="horz"/>
          <a:lstStyle>
            <a:lvl1pPr algn="l">
              <a:defRPr sz="900">
                <a:solidFill>
                  <a:srgbClr val="FFFFFF"/>
                </a:solidFill>
              </a:defRPr>
            </a:lvl1pPr>
          </a:lstStyle>
          <a:p>
            <a:fld id="{2C5A4276-9034-4F68-8B2D-8D580C8476C4}" type="datetimeFigureOut">
              <a:rPr lang="en-US" smtClean="0"/>
              <a:t>10/16/2025</a:t>
            </a:fld>
            <a:endParaRPr lang="en-US"/>
          </a:p>
        </p:txBody>
      </p:sp>
      <p:sp>
        <p:nvSpPr>
          <p:cNvPr id="5" name="Footer Placeholder 4"/>
          <p:cNvSpPr>
            <a:spLocks noGrp="1"/>
          </p:cNvSpPr>
          <p:nvPr>
            <p:ph idx="3" sz="quarter" type="ftr"/>
          </p:nvPr>
        </p:nvSpPr>
        <p:spPr>
          <a:xfrm>
            <a:off x="3686185" y="6459785"/>
            <a:ext cx="4822804" cy="365125"/>
          </a:xfrm>
          <a:prstGeom prst="rect">
            <a:avLst/>
          </a:prstGeom>
        </p:spPr>
        <p:txBody>
          <a:bodyPr anchor="ctr" bIns="45720" lIns="91440" rIns="91440" rtlCol="0" tIns="45720" vert="horz"/>
          <a:lstStyle>
            <a:lvl1pPr algn="ctr">
              <a:defRPr baseline="0" cap="all" sz="900">
                <a:solidFill>
                  <a:srgbClr val="FFFFFF"/>
                </a:solidFill>
              </a:defRPr>
            </a:lvl1pPr>
          </a:lstStyle>
          <a:p>
            <a:endParaRPr lang="en-US"/>
          </a:p>
        </p:txBody>
      </p:sp>
      <p:sp>
        <p:nvSpPr>
          <p:cNvPr id="6" name="Slide Number Placeholder 5"/>
          <p:cNvSpPr>
            <a:spLocks noGrp="1"/>
          </p:cNvSpPr>
          <p:nvPr>
            <p:ph idx="4" sz="quarter" type="sldNum"/>
          </p:nvPr>
        </p:nvSpPr>
        <p:spPr>
          <a:xfrm>
            <a:off x="9900458" y="6459785"/>
            <a:ext cx="1312025" cy="365125"/>
          </a:xfrm>
          <a:prstGeom prst="rect">
            <a:avLst/>
          </a:prstGeom>
        </p:spPr>
        <p:txBody>
          <a:bodyPr anchor="ctr" bIns="45720" lIns="91440" rIns="91440" rtlCol="0" tIns="45720" vert="horz"/>
          <a:lstStyle>
            <a:lvl1pPr algn="r">
              <a:defRPr sz="1050">
                <a:solidFill>
                  <a:srgbClr val="FFFFFF"/>
                </a:solidFill>
              </a:defRPr>
            </a:lvl1pPr>
          </a:lstStyle>
          <a:p>
            <a:fld id="{51F9AB11-5268-4777-85B6-D98FC480BF1C}"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084802"/>
      </p:ext>
    </p:extLst>
  </p:cSld>
  <p:clrMap accent1="accent1" accent2="accent2" accent3="accent3" accent4="accent4" accent5="accent5" accent6="accent6" bg1="lt1" bg2="lt2" folHlink="folHlink" hlink="hlink" tx1="dk1" tx2="dk2"/>
  <p:sldLayoutIdLst>
    <p:sldLayoutId id="2147483662" r:id="rId1"/>
    <p:sldLayoutId id="2147483661"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eaLnBrk="1" hangingPunct="1" latinLnBrk="0" rtl="0">
        <a:lnSpc>
          <a:spcPct val="85000"/>
        </a:lnSpc>
        <a:spcBef>
          <a:spcPct val="0"/>
        </a:spcBef>
        <a:buNone/>
        <a:defRPr baseline="0" kern="1200" spc="-50" sz="4800">
          <a:solidFill>
            <a:schemeClr val="tx1">
              <a:lumMod val="75000"/>
              <a:lumOff val="25000"/>
            </a:schemeClr>
          </a:solidFill>
          <a:latin typeface="+mj-lt"/>
          <a:ea typeface="+mj-ea"/>
          <a:cs typeface="+mj-cs"/>
        </a:defRPr>
      </a:lvl1pPr>
    </p:titleStyle>
    <p:bodyStyle>
      <a:lvl1pPr algn="l" defTabSz="914400" eaLnBrk="1" hangingPunct="1" indent="-91440" latinLnBrk="0" marL="91440" rtl="0">
        <a:lnSpc>
          <a:spcPct val="90000"/>
        </a:lnSpc>
        <a:spcBef>
          <a:spcPts val="1200"/>
        </a:spcBef>
        <a:spcAft>
          <a:spcPts val="200"/>
        </a:spcAft>
        <a:buClr>
          <a:schemeClr val="accent1"/>
        </a:buClr>
        <a:buSzPct val="100000"/>
        <a:buFont charset="0" panose="020F0502020204030204" pitchFamily="34" typeface="Calibri"/>
        <a:buChar char=" "/>
        <a:defRPr kern="1200" sz="2000">
          <a:solidFill>
            <a:schemeClr val="tx1">
              <a:lumMod val="75000"/>
              <a:lumOff val="25000"/>
            </a:schemeClr>
          </a:solidFill>
          <a:latin typeface="+mn-lt"/>
          <a:ea typeface="+mn-ea"/>
          <a:cs typeface="+mn-cs"/>
        </a:defRPr>
      </a:lvl1pPr>
      <a:lvl2pPr algn="l" defTabSz="914400" eaLnBrk="1" hangingPunct="1" indent="-182880" latinLnBrk="0" marL="384048" rtl="0">
        <a:lnSpc>
          <a:spcPct val="90000"/>
        </a:lnSpc>
        <a:spcBef>
          <a:spcPts val="200"/>
        </a:spcBef>
        <a:spcAft>
          <a:spcPts val="400"/>
        </a:spcAft>
        <a:buClr>
          <a:schemeClr val="accent1"/>
        </a:buClr>
        <a:buFont charset="0" pitchFamily="34" typeface="Calibri"/>
        <a:buChar char="◦"/>
        <a:defRPr kern="1200" sz="1800">
          <a:solidFill>
            <a:schemeClr val="tx1">
              <a:lumMod val="75000"/>
              <a:lumOff val="25000"/>
            </a:schemeClr>
          </a:solidFill>
          <a:latin typeface="+mn-lt"/>
          <a:ea typeface="+mn-ea"/>
          <a:cs typeface="+mn-cs"/>
        </a:defRPr>
      </a:lvl2pPr>
      <a:lvl3pPr algn="l" defTabSz="914400" eaLnBrk="1" hangingPunct="1" indent="-182880" latinLnBrk="0" marL="566928" rtl="0">
        <a:lnSpc>
          <a:spcPct val="90000"/>
        </a:lnSpc>
        <a:spcBef>
          <a:spcPts val="200"/>
        </a:spcBef>
        <a:spcAft>
          <a:spcPts val="400"/>
        </a:spcAft>
        <a:buClr>
          <a:schemeClr val="accent1"/>
        </a:buClr>
        <a:buFont charset="0" pitchFamily="34" typeface="Calibri"/>
        <a:buChar char="◦"/>
        <a:defRPr kern="1200" sz="1400">
          <a:solidFill>
            <a:schemeClr val="tx1">
              <a:lumMod val="75000"/>
              <a:lumOff val="25000"/>
            </a:schemeClr>
          </a:solidFill>
          <a:latin typeface="+mn-lt"/>
          <a:ea typeface="+mn-ea"/>
          <a:cs typeface="+mn-cs"/>
        </a:defRPr>
      </a:lvl3pPr>
      <a:lvl4pPr algn="l" defTabSz="914400" eaLnBrk="1" hangingPunct="1" indent="-182880" latinLnBrk="0" marL="749808" rtl="0">
        <a:lnSpc>
          <a:spcPct val="90000"/>
        </a:lnSpc>
        <a:spcBef>
          <a:spcPts val="200"/>
        </a:spcBef>
        <a:spcAft>
          <a:spcPts val="400"/>
        </a:spcAft>
        <a:buClr>
          <a:schemeClr val="accent1"/>
        </a:buClr>
        <a:buFont charset="0" pitchFamily="34" typeface="Calibri"/>
        <a:buChar char="◦"/>
        <a:defRPr kern="1200" sz="1400">
          <a:solidFill>
            <a:schemeClr val="tx1">
              <a:lumMod val="75000"/>
              <a:lumOff val="25000"/>
            </a:schemeClr>
          </a:solidFill>
          <a:latin typeface="+mn-lt"/>
          <a:ea typeface="+mn-ea"/>
          <a:cs typeface="+mn-cs"/>
        </a:defRPr>
      </a:lvl4pPr>
      <a:lvl5pPr algn="l" defTabSz="914400" eaLnBrk="1" hangingPunct="1" indent="-182880" latinLnBrk="0" marL="932688" rtl="0">
        <a:lnSpc>
          <a:spcPct val="90000"/>
        </a:lnSpc>
        <a:spcBef>
          <a:spcPts val="200"/>
        </a:spcBef>
        <a:spcAft>
          <a:spcPts val="400"/>
        </a:spcAft>
        <a:buClr>
          <a:schemeClr val="accent1"/>
        </a:buClr>
        <a:buFont charset="0" pitchFamily="34" typeface="Calibri"/>
        <a:buChar char="◦"/>
        <a:defRPr kern="1200" sz="1400">
          <a:solidFill>
            <a:schemeClr val="tx1">
              <a:lumMod val="75000"/>
              <a:lumOff val="25000"/>
            </a:schemeClr>
          </a:solidFill>
          <a:latin typeface="+mn-lt"/>
          <a:ea typeface="+mn-ea"/>
          <a:cs typeface="+mn-cs"/>
        </a:defRPr>
      </a:lvl5pPr>
      <a:lvl6pPr algn="l" defTabSz="914400" eaLnBrk="1" hangingPunct="1" indent="-228600" latinLnBrk="0" marL="1100000" rtl="0">
        <a:lnSpc>
          <a:spcPct val="90000"/>
        </a:lnSpc>
        <a:spcBef>
          <a:spcPts val="200"/>
        </a:spcBef>
        <a:spcAft>
          <a:spcPts val="400"/>
        </a:spcAft>
        <a:buClr>
          <a:schemeClr val="accent1"/>
        </a:buClr>
        <a:buFont charset="0" pitchFamily="34" typeface="Calibri"/>
        <a:buChar char="◦"/>
        <a:defRPr kern="1200" sz="1400">
          <a:solidFill>
            <a:schemeClr val="tx1">
              <a:lumMod val="75000"/>
              <a:lumOff val="25000"/>
            </a:schemeClr>
          </a:solidFill>
          <a:latin typeface="+mn-lt"/>
          <a:ea typeface="+mn-ea"/>
          <a:cs typeface="+mn-cs"/>
        </a:defRPr>
      </a:lvl6pPr>
      <a:lvl7pPr algn="l" defTabSz="914400" eaLnBrk="1" hangingPunct="1" indent="-228600" latinLnBrk="0" marL="1300000" rtl="0">
        <a:lnSpc>
          <a:spcPct val="90000"/>
        </a:lnSpc>
        <a:spcBef>
          <a:spcPts val="200"/>
        </a:spcBef>
        <a:spcAft>
          <a:spcPts val="400"/>
        </a:spcAft>
        <a:buClr>
          <a:schemeClr val="accent1"/>
        </a:buClr>
        <a:buFont charset="0" pitchFamily="34" typeface="Calibri"/>
        <a:buChar char="◦"/>
        <a:defRPr kern="1200" sz="1400">
          <a:solidFill>
            <a:schemeClr val="tx1">
              <a:lumMod val="75000"/>
              <a:lumOff val="25000"/>
            </a:schemeClr>
          </a:solidFill>
          <a:latin typeface="+mn-lt"/>
          <a:ea typeface="+mn-ea"/>
          <a:cs typeface="+mn-cs"/>
        </a:defRPr>
      </a:lvl7pPr>
      <a:lvl8pPr algn="l" defTabSz="914400" eaLnBrk="1" hangingPunct="1" indent="-228600" latinLnBrk="0" marL="1500000" rtl="0">
        <a:lnSpc>
          <a:spcPct val="90000"/>
        </a:lnSpc>
        <a:spcBef>
          <a:spcPts val="200"/>
        </a:spcBef>
        <a:spcAft>
          <a:spcPts val="400"/>
        </a:spcAft>
        <a:buClr>
          <a:schemeClr val="accent1"/>
        </a:buClr>
        <a:buFont charset="0" pitchFamily="34" typeface="Calibri"/>
        <a:buChar char="◦"/>
        <a:defRPr kern="1200" sz="1400">
          <a:solidFill>
            <a:schemeClr val="tx1">
              <a:lumMod val="75000"/>
              <a:lumOff val="25000"/>
            </a:schemeClr>
          </a:solidFill>
          <a:latin typeface="+mn-lt"/>
          <a:ea typeface="+mn-ea"/>
          <a:cs typeface="+mn-cs"/>
        </a:defRPr>
      </a:lvl8pPr>
      <a:lvl9pPr algn="l" defTabSz="914400" eaLnBrk="1" hangingPunct="1" indent="-228600" latinLnBrk="0" marL="1700000" rtl="0">
        <a:lnSpc>
          <a:spcPct val="90000"/>
        </a:lnSpc>
        <a:spcBef>
          <a:spcPts val="200"/>
        </a:spcBef>
        <a:spcAft>
          <a:spcPts val="400"/>
        </a:spcAft>
        <a:buClr>
          <a:schemeClr val="accent1"/>
        </a:buClr>
        <a:buFont charset="0" pitchFamily="34" typeface="Calibri"/>
        <a:buChar char="◦"/>
        <a:defRPr kern="1200" sz="1400">
          <a:solidFill>
            <a:schemeClr val="tx1">
              <a:lumMod val="75000"/>
              <a:lumOff val="25000"/>
            </a:schemeClr>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3.gif" /></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image" Target="../media/image4.gif" /></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6.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image" Target="../media/image6.jpg" /></Relationships>
</file>

<file path=ppt/slides/_rels/slide36.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5.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6.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4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4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hyperlink" Target="http://arrgh.tim-smith.us/" TargetMode="External" /><Relationship Id="rId3" Type="http://schemas.openxmlformats.org/officeDocument/2006/relationships/hyperlink" Target="https://bookdown.org/ndphillips/YaRrr/" TargetMode="External" /><Relationship Id="rId4" Type="http://schemas.openxmlformats.org/officeDocument/2006/relationships/hyperlink" Target="https://bookdown.org/yih_huynh/Guide-to-R-Book/" TargetMode="External" /><Relationship Id="rId5" Type="http://schemas.openxmlformats.org/officeDocument/2006/relationships/hyperlink" Target="http://adv-r.had.co.nz/Introduction.html" TargetMode="External" /><Relationship Id="rId6" Type="http://schemas.openxmlformats.org/officeDocument/2006/relationships/hyperlink" Target="https://resources.library.ubc.ca/page.php?details=oreilly-for-higher-education&amp;id=2460" TargetMode="External" /><Relationship Id="rId7" Type="http://schemas.openxmlformats.org/officeDocument/2006/relationships/hyperlink" Target="W3%20School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97280" y="758952"/>
            <a:ext cx="10058400" cy="3566160"/>
          </a:xfrm>
        </p:spPr>
        <p:txBody>
          <a:bodyPr/>
          <a:lstStyle/>
          <a:p>
            <a:pPr lvl="0" indent="0" marL="0">
              <a:buNone/>
            </a:pPr>
            <a:r>
              <a:rPr/>
              <a:t>R: Fundamental Concepts with RStudio</a:t>
            </a:r>
          </a:p>
        </p:txBody>
      </p:sp>
      <p:sp>
        <p:nvSpPr>
          <p:cNvPr id="3" name="Subtitle 2"/>
          <p:cNvSpPr>
            <a:spLocks noGrp="1"/>
          </p:cNvSpPr>
          <p:nvPr>
            <p:ph idx="1" type="subTitle"/>
          </p:nvPr>
        </p:nvSpPr>
        <p:spPr>
          <a:xfrm>
            <a:off x="1100051" y="4455620"/>
            <a:ext cx="10058400" cy="1143000"/>
          </a:xfrm>
        </p:spPr>
        <p:txBody>
          <a:bodyPr/>
          <a:lstStyle/>
          <a:p>
            <a:pPr lvl="0" indent="0" marL="0">
              <a:buNone/>
            </a:pPr>
            <a:br/>
            <a:br/>
          </a:p>
        </p:txBody>
      </p:sp>
      <p:sp>
        <p:nvSpPr>
          <p:cNvPr id="4" name="Date Placeholder 3"/>
          <p:cNvSpPr>
            <a:spLocks noGrp="1"/>
          </p:cNvSpPr>
          <p:nvPr>
            <p:ph idx="10" sz="half" type="dt"/>
          </p:nvPr>
        </p:nvSpPr>
        <p:spPr/>
        <p:txBody>
          <a:bodyPr/>
          <a:lstStyle/>
          <a:p>
            <a:pPr lvl="0" indent="0" marL="0">
              <a:buNone/>
            </a:pPr>
            <a:r>
              <a:rPr/>
              <a:t>2025-10-23 12:55:37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 vs SPSS</a:t>
            </a:r>
          </a:p>
        </p:txBody>
      </p:sp>
      <p:graphicFrame xmlns:a="http://schemas.openxmlformats.org/drawingml/2006/main" xmlns:r="http://schemas.openxmlformats.org/officeDocument/2006/relationships" xmlns:p="http://schemas.openxmlformats.org/presentationml/2006/main">
        <p:nvGraphicFramePr>
          <p:cNvPr id="425910444" name=""/>
          <p:cNvGraphicFramePr>
            <a:graphicFrameLocks noGrp="true"/>
          </p:cNvGraphicFramePr>
          <p:nvPr/>
        </p:nvGraphicFramePr>
        <p:xfrm rot="0">
          <a:off x="914400" y="1828800"/>
          <a:ext cx="9144000" cy="5486400"/>
        </p:xfrm>
        <a:graphic>
          <a:graphicData uri="http://schemas.openxmlformats.org/drawingml/2006/table">
            <a:tbl>
              <a:tblPr/>
              <a:tblGrid>
                <a:gridCol w="633489"/>
                <a:gridCol w="1402248"/>
                <a:gridCol w="1037241"/>
                <a:gridCol w="2974350"/>
                <a:gridCol w="1945768"/>
                <a:gridCol w="3219303"/>
              </a:tblGrid>
              <a:tr h="390173">
                <a:tc>
                  <a:txBody>
                    <a:bodyPr/>
                    <a:lstStyle/>
                    <a:p>
                      <a:pPr algn="l" marL="63500" marR="63500">
                        <a:lnSpc>
                          <a:spcPct val="100000"/>
                        </a:lnSpc>
                        <a:spcBef>
                          <a:spcPts val="500"/>
                        </a:spcBef>
                        <a:spcAft>
                          <a:spcPts val="500"/>
                        </a:spcAft>
                        <a:buNone/>
                      </a:pPr>
                      <a:r>
                        <a:rPr cap="none" sz="1100" i="0" b="1" u="none" strike="noStrike">
                          <a:solidFill>
                            <a:srgbClr val="000000">
                              <a:alpha val="100000"/>
                            </a:srgbClr>
                          </a:solidFill>
                          <a:latin typeface="Arial"/>
                          <a:cs typeface="Arial"/>
                          <a:ea typeface="Arial"/>
                          <a:sym typeface="Arial"/>
                        </a:rPr>
                        <a:t>Tool</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1" u="none" strike="noStrike">
                          <a:solidFill>
                            <a:srgbClr val="000000">
                              <a:alpha val="100000"/>
                            </a:srgbClr>
                          </a:solidFill>
                          <a:latin typeface="Arial"/>
                          <a:cs typeface="Arial"/>
                          <a:ea typeface="Arial"/>
                          <a:sym typeface="Arial"/>
                        </a:rPr>
                        <a:t>Cost</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1" u="none" strike="noStrike">
                          <a:solidFill>
                            <a:srgbClr val="000000">
                              <a:alpha val="100000"/>
                            </a:srgbClr>
                          </a:solidFill>
                          <a:latin typeface="Arial"/>
                          <a:cs typeface="Arial"/>
                          <a:ea typeface="Arial"/>
                          <a:sym typeface="Arial"/>
                        </a:rPr>
                        <a:t>Flexibility</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1" u="none" strike="noStrike">
                          <a:solidFill>
                            <a:srgbClr val="000000">
                              <a:alpha val="100000"/>
                            </a:srgbClr>
                          </a:solidFill>
                          <a:latin typeface="Arial"/>
                          <a:cs typeface="Arial"/>
                          <a:ea typeface="Arial"/>
                          <a:sym typeface="Arial"/>
                        </a:rPr>
                        <a:t>Extensible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1" u="none" strike="noStrike">
                          <a:solidFill>
                            <a:srgbClr val="000000">
                              <a:alpha val="100000"/>
                            </a:srgbClr>
                          </a:solidFill>
                          <a:latin typeface="Arial"/>
                          <a:cs typeface="Arial"/>
                          <a:ea typeface="Arial"/>
                          <a:sym typeface="Arial"/>
                        </a:rPr>
                        <a:t>Learning</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1" u="none" strike="noStrike">
                          <a:solidFill>
                            <a:srgbClr val="000000">
                              <a:alpha val="100000"/>
                            </a:srgbClr>
                          </a:solidFill>
                          <a:latin typeface="Arial"/>
                          <a:cs typeface="Arial"/>
                          <a:ea typeface="Arial"/>
                          <a:sym typeface="Arial"/>
                        </a:rPr>
                        <a:t>Visualization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90173">
                <a:tc>
                  <a:txBody>
                    <a:bodyPr/>
                    <a:lstStyle/>
                    <a:p>
                      <a:pPr algn="l" marL="63500" marR="63500">
                        <a:lnSpc>
                          <a:spcPct val="100000"/>
                        </a:lnSpc>
                        <a:spcBef>
                          <a:spcPts val="500"/>
                        </a:spcBef>
                        <a:spcAft>
                          <a:spcPts val="500"/>
                        </a:spcAft>
                        <a:buNone/>
                      </a:pPr>
                      <a:r>
                        <a:rPr cap="none" sz="1100" i="0" b="0" u="none" strike="noStrike">
                          <a:solidFill>
                            <a:srgbClr val="000000">
                              <a:alpha val="100000"/>
                            </a:srgbClr>
                          </a:solidFill>
                          <a:latin typeface="Arial"/>
                          <a:cs typeface="Arial"/>
                          <a:ea typeface="Arial"/>
                          <a:sym typeface="Arial"/>
                        </a:rPr>
                        <a:t>SPSS</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0" u="none" strike="noStrike">
                          <a:solidFill>
                            <a:srgbClr val="000000">
                              <a:alpha val="100000"/>
                            </a:srgbClr>
                          </a:solidFill>
                          <a:latin typeface="Arial"/>
                          <a:cs typeface="Arial"/>
                          <a:ea typeface="Arial"/>
                          <a:sym typeface="Arial"/>
                        </a:rPr>
                        <a:t>License required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0" u="none" strike="noStrike">
                          <a:solidFill>
                            <a:srgbClr val="000000">
                              <a:alpha val="100000"/>
                            </a:srgbClr>
                          </a:solidFill>
                          <a:latin typeface="Arial"/>
                          <a:cs typeface="Arial"/>
                          <a:ea typeface="Arial"/>
                          <a:sym typeface="Arial"/>
                        </a:rPr>
                        <a:t>Menu-driven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0" u="none" strike="noStrike">
                          <a:solidFill>
                            <a:srgbClr val="000000">
                              <a:alpha val="100000"/>
                            </a:srgbClr>
                          </a:solidFill>
                          <a:latin typeface="Arial"/>
                          <a:cs typeface="Arial"/>
                          <a:ea typeface="Arial"/>
                          <a:sym typeface="Arial"/>
                        </a:rPr>
                        <a:t>New methods depend on vendor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0" u="none" strike="noStrike">
                          <a:solidFill>
                            <a:srgbClr val="000000">
                              <a:alpha val="100000"/>
                            </a:srgbClr>
                          </a:solidFill>
                          <a:latin typeface="Arial"/>
                          <a:cs typeface="Arial"/>
                          <a:ea typeface="Arial"/>
                          <a:sym typeface="Arial"/>
                        </a:rPr>
                        <a:t>Lower barrier to entry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0" u="none" strike="noStrike">
                          <a:solidFill>
                            <a:srgbClr val="000000">
                              <a:alpha val="100000"/>
                            </a:srgbClr>
                          </a:solidFill>
                          <a:latin typeface="Arial"/>
                          <a:cs typeface="Arial"/>
                          <a:ea typeface="Arial"/>
                          <a:sym typeface="Arial"/>
                        </a:rPr>
                        <a:t>Basic charts</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91879">
                <a:tc>
                  <a:txBody>
                    <a:bodyPr/>
                    <a:lstStyle/>
                    <a:p>
                      <a:pPr algn="l" marL="63500" marR="63500">
                        <a:lnSpc>
                          <a:spcPct val="100000"/>
                        </a:lnSpc>
                        <a:spcBef>
                          <a:spcPts val="500"/>
                        </a:spcBef>
                        <a:spcAft>
                          <a:spcPts val="500"/>
                        </a:spcAft>
                        <a:buNone/>
                      </a:pPr>
                      <a:r>
                        <a:rPr cap="none" sz="1100" i="0" b="0" u="none" strike="noStrike">
                          <a:solidFill>
                            <a:srgbClr val="000000">
                              <a:alpha val="100000"/>
                            </a:srgbClr>
                          </a:solidFill>
                          <a:latin typeface="Arial"/>
                          <a:cs typeface="Arial"/>
                          <a:ea typeface="Arial"/>
                          <a:sym typeface="Arial"/>
                        </a:rPr>
                        <a:t>R</a:t>
                      </a:r>
                    </a:p>
                  </a:txBody>
                  <a:tcPr anchor="ctr" marB="63500" marT="635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0" u="none" strike="noStrike">
                          <a:solidFill>
                            <a:srgbClr val="000000">
                              <a:alpha val="100000"/>
                            </a:srgbClr>
                          </a:solidFill>
                          <a:latin typeface="Arial"/>
                          <a:cs typeface="Arial"/>
                          <a:ea typeface="Arial"/>
                          <a:sym typeface="Arial"/>
                        </a:rPr>
                        <a:t>Free, open-source</a:t>
                      </a:r>
                    </a:p>
                  </a:txBody>
                  <a:tcPr anchor="ctr" marB="63500" marT="635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0" u="none" strike="noStrike">
                          <a:solidFill>
                            <a:srgbClr val="000000">
                              <a:alpha val="100000"/>
                            </a:srgbClr>
                          </a:solidFill>
                          <a:latin typeface="Arial"/>
                          <a:cs typeface="Arial"/>
                          <a:ea typeface="Arial"/>
                          <a:sym typeface="Arial"/>
                        </a:rPr>
                        <a:t>Scriptable</a:t>
                      </a:r>
                    </a:p>
                  </a:txBody>
                  <a:tcPr anchor="ctr" marB="63500" marT="635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0" u="none" strike="noStrike">
                          <a:solidFill>
                            <a:srgbClr val="000000">
                              <a:alpha val="100000"/>
                            </a:srgbClr>
                          </a:solidFill>
                          <a:latin typeface="Arial"/>
                          <a:cs typeface="Arial"/>
                          <a:ea typeface="Arial"/>
                          <a:sym typeface="Arial"/>
                        </a:rPr>
                        <a:t>Community-built packages (&gt;22k on CRAN)</a:t>
                      </a:r>
                    </a:p>
                  </a:txBody>
                  <a:tcPr anchor="ctr" marB="63500" marT="635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0" u="none" strike="noStrike">
                          <a:solidFill>
                            <a:srgbClr val="000000">
                              <a:alpha val="100000"/>
                            </a:srgbClr>
                          </a:solidFill>
                          <a:latin typeface="Arial"/>
                          <a:cs typeface="Arial"/>
                          <a:ea typeface="Arial"/>
                          <a:sym typeface="Arial"/>
                        </a:rPr>
                        <a:t>Higher initial learning curve</a:t>
                      </a:r>
                    </a:p>
                  </a:txBody>
                  <a:tcPr anchor="ctr" marB="63500" marT="635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100" i="0" b="0" u="none" strike="noStrike">
                          <a:solidFill>
                            <a:srgbClr val="000000">
                              <a:alpha val="100000"/>
                            </a:srgbClr>
                          </a:solidFill>
                          <a:latin typeface="Arial"/>
                          <a:cs typeface="Arial"/>
                          <a:ea typeface="Arial"/>
                          <a:sym typeface="Arial"/>
                        </a:rPr>
                        <a:t>Advanced, customizable graphics with `ggplot2`</a:t>
                      </a:r>
                    </a:p>
                  </a:txBody>
                  <a:tcPr anchor="ctr" marB="63500" marT="635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RStudio</a:t>
            </a:r>
          </a:p>
        </p:txBody>
      </p:sp>
      <p:pic>
        <p:nvPicPr>
          <p:cNvPr descr="../../docs/assets/images/rstudio.png" id="0" name="Picture 1"/>
          <p:cNvPicPr>
            <a:picLocks noGrp="1" noChangeAspect="1"/>
          </p:cNvPicPr>
          <p:nvPr/>
        </p:nvPicPr>
        <p:blipFill>
          <a:blip r:embed="rId3"/>
          <a:stretch>
            <a:fillRect/>
          </a:stretch>
        </p:blipFill>
        <p:spPr bwMode="auto">
          <a:xfrm>
            <a:off x="2324100" y="1841500"/>
            <a:ext cx="7607300" cy="4013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do your data live before R</a:t>
            </a:r>
          </a:p>
        </p:txBody>
      </p:sp>
      <p:sp>
        <p:nvSpPr>
          <p:cNvPr id="3" name="Content Placeholder 2"/>
          <p:cNvSpPr>
            <a:spLocks noGrp="1"/>
          </p:cNvSpPr>
          <p:nvPr>
            <p:ph idx="1"/>
          </p:nvPr>
        </p:nvSpPr>
        <p:spPr/>
        <p:txBody>
          <a:bodyPr/>
          <a:lstStyle/>
          <a:p>
            <a:pPr lvl="0"/>
            <a:r>
              <a:rPr/>
              <a:t>MS Excel, Google Sheets, CSV, Databases, Websites/APIs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Importing versus opening data</a:t>
            </a:r>
          </a:p>
        </p:txBody>
      </p:sp>
      <p:sp>
        <p:nvSpPr>
          <p:cNvPr id="3" name="Content Placeholder 2"/>
          <p:cNvSpPr>
            <a:spLocks noGrp="1"/>
          </p:cNvSpPr>
          <p:nvPr>
            <p:ph idx="1"/>
          </p:nvPr>
        </p:nvSpPr>
        <p:spPr/>
        <p:txBody>
          <a:bodyPr/>
          <a:lstStyle/>
          <a:p>
            <a:pPr lvl="0"/>
            <a:r>
              <a:rPr/>
              <a:t>When you work with data in R you have move from </a:t>
            </a:r>
            <a:r>
              <a:rPr i="1"/>
              <a:t>opening</a:t>
            </a:r>
            <a:r>
              <a:rPr/>
              <a:t> data files to </a:t>
            </a:r>
            <a:r>
              <a:rPr i="1"/>
              <a:t>importing</a:t>
            </a:r>
            <a:r>
              <a:rPr/>
              <a:t> data into data structures.</a:t>
            </a:r>
          </a:p>
          <a:p>
            <a:pPr lvl="0"/>
            <a:r>
              <a:rPr/>
              <a:t>When you import data into R you aren’t clicking on rows, columns and cells in excel or google sheets anymore you are manipulating </a:t>
            </a:r>
            <a:r>
              <a:rPr i="1"/>
              <a:t>objects</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Think-pair-share</a:t>
            </a:r>
          </a:p>
        </p:txBody>
      </p:sp>
      <p:sp>
        <p:nvSpPr>
          <p:cNvPr id="3" name="Content Placeholder 2"/>
          <p:cNvSpPr>
            <a:spLocks noGrp="1"/>
          </p:cNvSpPr>
          <p:nvPr>
            <p:ph idx="1"/>
          </p:nvPr>
        </p:nvSpPr>
        <p:spPr/>
        <p:txBody>
          <a:bodyPr/>
          <a:lstStyle/>
          <a:p>
            <a:pPr lvl="0"/>
            <a:r>
              <a:rPr/>
              <a:t>Lets say you have opened a file in R (health_data.csv). You edit a cell in the data structure in R. What happens to the original </a:t>
            </a:r>
            <a:r>
              <a:rPr>
                <a:latin typeface="Courier"/>
              </a:rPr>
              <a:t>health_data.csv</a:t>
            </a:r>
            <a:r>
              <a:rPr/>
              <a:t> file?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structures</a:t>
            </a:r>
          </a:p>
        </p:txBody>
      </p:sp>
      <p:sp>
        <p:nvSpPr>
          <p:cNvPr id="3" name="Content Placeholder 2"/>
          <p:cNvSpPr>
            <a:spLocks noGrp="1"/>
          </p:cNvSpPr>
          <p:nvPr>
            <p:ph idx="1"/>
          </p:nvPr>
        </p:nvSpPr>
        <p:spPr/>
        <p:txBody>
          <a:bodyPr/>
          <a:lstStyle/>
          <a:p>
            <a:pPr lvl="0"/>
            <a:r>
              <a:rPr/>
              <a:t>File structures often referred to as </a:t>
            </a:r>
            <a:r>
              <a:rPr b="1"/>
              <a:t>trees</a:t>
            </a:r>
          </a:p>
          <a:p>
            <a:pPr lvl="0"/>
            <a:r>
              <a:rPr/>
              <a:t>Folders are often referred to as </a:t>
            </a:r>
            <a:r>
              <a:rPr b="1"/>
              <a:t>directories</a:t>
            </a:r>
          </a:p>
          <a:p>
            <a:pPr lvl="0" indent="0">
              <a:buNone/>
            </a:pPr>
            <a:r>
              <a:rPr>
                <a:latin typeface="Courier"/>
              </a:rPr>
              <a:t>## C:/Users/jackx/Desktop/csc/workshops/./assets/demo-file-struct
## ├── mysubdir
## │   ├── myemptydir
## │   ├── mytext2.txt
## │   └── myword.docx
## └── mytext.txt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sp>
        <p:nvSpPr>
          <p:cNvPr id="3" name="Content Placeholder 2"/>
          <p:cNvSpPr>
            <a:spLocks noGrp="1"/>
          </p:cNvSpPr>
          <p:nvPr>
            <p:ph idx="1"/>
          </p:nvPr>
        </p:nvSpPr>
        <p:spPr/>
        <p:txBody>
          <a:bodyPr/>
          <a:lstStyle/>
          <a:p>
            <a:pPr lvl="0"/>
            <a:r>
              <a:rPr/>
              <a:t>The </a:t>
            </a:r>
            <a:r>
              <a:rPr b="1"/>
              <a:t>working directory</a:t>
            </a:r>
            <a:r>
              <a:rPr/>
              <a:t> is a </a:t>
            </a:r>
            <a:r>
              <a:rPr i="1"/>
              <a:t>term of art</a:t>
            </a:r>
            <a:r>
              <a:rPr/>
              <a:t> for the directory where your project lives</a:t>
            </a:r>
          </a:p>
          <a:p>
            <a:pPr lvl="0" indent="0">
              <a:buNone/>
            </a:pPr>
            <a:r>
              <a:rPr>
                <a:solidFill>
                  <a:srgbClr val="8E44AD"/>
                </a:solidFill>
                <a:latin typeface="Courier"/>
              </a:rPr>
              <a:t>getwd</a:t>
            </a:r>
            <a:r>
              <a:rPr>
                <a:solidFill>
                  <a:srgbClr val="CFCFC2"/>
                </a:solidFill>
                <a:latin typeface="Courier"/>
              </a:rPr>
              <a:t>()</a:t>
            </a:r>
          </a:p>
          <a:p>
            <a:pPr lvl="0" indent="0">
              <a:buNone/>
            </a:pPr>
            <a:r>
              <a:rPr>
                <a:latin typeface="Courier"/>
              </a:rPr>
              <a:t>## [1] "C:/Users/jackx/Desktop/csc/workshops/guides/Additional-talks"</a:t>
            </a:r>
          </a:p>
          <a:p>
            <a:pPr lvl="0" indent="0">
              <a:buNone/>
            </a:pPr>
            <a:r>
              <a:rPr>
                <a:solidFill>
                  <a:srgbClr val="7A7C7D"/>
                </a:solidFill>
                <a:latin typeface="Courier"/>
              </a:rPr>
              <a:t># This is not recommended</a:t>
            </a:r>
            <a:br/>
            <a:r>
              <a:rPr>
                <a:solidFill>
                  <a:srgbClr val="7A7C7D"/>
                </a:solidFill>
                <a:latin typeface="Courier"/>
              </a:rPr>
              <a:t># setwd()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594359"/>
            <a:ext cx="3200400" cy="2286000"/>
          </a:xfrm>
        </p:spPr>
        <p:txBody>
          <a:bodyPr/>
          <a:lstStyle/>
          <a:p>
            <a:pPr lvl="0" indent="0" marL="0">
              <a:buNone/>
            </a:pPr>
            <a:r>
              <a:rPr/>
              <a:t>R Projects</a:t>
            </a:r>
          </a:p>
        </p:txBody>
      </p:sp>
      <p:sp>
        <p:nvSpPr>
          <p:cNvPr id="4" name="Text Placeholder 3"/>
          <p:cNvSpPr>
            <a:spLocks noGrp="1"/>
          </p:cNvSpPr>
          <p:nvPr>
            <p:ph idx="2" sz="half" type="body"/>
          </p:nvPr>
        </p:nvSpPr>
        <p:spPr/>
        <p:txBody>
          <a:bodyPr/>
          <a:lstStyle/>
          <a:p>
            <a:pPr lvl="0"/>
            <a:r>
              <a:rPr/>
              <a:t>The best way to keep track of files (and the way I do it) is with </a:t>
            </a:r>
            <a:r>
              <a:rPr b="1"/>
              <a:t>R Projects</a:t>
            </a:r>
          </a:p>
        </p:txBody>
      </p:sp>
      <p:pic>
        <p:nvPicPr>
          <p:cNvPr descr="../../docs/assets/gifs/R_projects.gif" id="0" name="Picture 1"/>
          <p:cNvPicPr>
            <a:picLocks noGrp="1" noChangeAspect="1"/>
          </p:cNvPicPr>
          <p:nvPr/>
        </p:nvPicPr>
        <p:blipFill>
          <a:blip r:embed="rId3"/>
          <a:stretch>
            <a:fillRect/>
          </a:stretch>
        </p:blipFill>
        <p:spPr bwMode="auto">
          <a:xfrm>
            <a:off x="5410200" y="723900"/>
            <a:ext cx="5257800" cy="5257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Relative versus absolute filepaths</a:t>
            </a:r>
          </a:p>
        </p:txBody>
      </p:sp>
      <p:pic>
        <p:nvPicPr>
          <p:cNvPr descr="../../docs/assets/gifs/file-path-example.gif" id="0" name="Picture 1"/>
          <p:cNvPicPr>
            <a:picLocks noGrp="1" noChangeAspect="1"/>
          </p:cNvPicPr>
          <p:nvPr/>
        </p:nvPicPr>
        <p:blipFill>
          <a:blip r:embed="rId2"/>
          <a:stretch>
            <a:fillRect/>
          </a:stretch>
        </p:blipFill>
        <p:spPr bwMode="auto">
          <a:xfrm>
            <a:off x="3111500" y="1841500"/>
            <a:ext cx="6019800" cy="4013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Working with absolute and relative filepaths</a:t>
            </a:r>
          </a:p>
        </p:txBody>
      </p:sp>
      <p:sp>
        <p:nvSpPr>
          <p:cNvPr id="3" name="Content Placeholder 2"/>
          <p:cNvSpPr>
            <a:spLocks noGrp="1"/>
          </p:cNvSpPr>
          <p:nvPr>
            <p:ph idx="1"/>
          </p:nvPr>
        </p:nvSpPr>
        <p:spPr/>
        <p:txBody>
          <a:bodyPr/>
          <a:lstStyle/>
          <a:p>
            <a:pPr lvl="0" indent="0">
              <a:buNone/>
            </a:pPr>
            <a:r>
              <a:rPr>
                <a:solidFill>
                  <a:srgbClr val="7A7C7D"/>
                </a:solidFill>
                <a:latin typeface="Courier"/>
              </a:rPr>
              <a:t># This is not recommended</a:t>
            </a:r>
            <a:br/>
            <a:r>
              <a:rPr>
                <a:solidFill>
                  <a:srgbClr val="7A7C7D"/>
                </a:solidFill>
                <a:latin typeface="Courier"/>
              </a:rPr>
              <a:t># file.path("C:/Users/jackx/Desktop/csc/Workshops/docs/assets/")</a:t>
            </a:r>
            <a:br/>
            <a:r>
              <a:rPr>
                <a:solidFill>
                  <a:srgbClr val="7A7C7D"/>
                </a:solidFill>
                <a:latin typeface="Courier"/>
              </a:rPr>
              <a:t># This is recommmended and reproducible</a:t>
            </a:r>
            <a:br/>
            <a:r>
              <a:rPr>
                <a:solidFill>
                  <a:srgbClr val="7A7C7D"/>
                </a:solidFill>
                <a:latin typeface="Courier"/>
              </a:rPr>
              <a:t># file.path("../docs/assets/gifs/file-path-example.gif")</a:t>
            </a:r>
          </a:p>
          <a:p>
            <a:pPr lvl="0"/>
            <a:r>
              <a:rPr/>
              <a:t>Note that the </a:t>
            </a:r>
            <a:r>
              <a:rPr>
                <a:latin typeface="Courier"/>
              </a:rPr>
              <a:t>.</a:t>
            </a:r>
            <a:r>
              <a:rPr/>
              <a:t> operator in a filepath signifies the current </a:t>
            </a:r>
            <a:r>
              <a:rPr i="1"/>
              <a:t>working directory</a:t>
            </a:r>
            <a:r>
              <a:rPr/>
              <a:t>.</a:t>
            </a:r>
          </a:p>
          <a:p>
            <a:pPr lvl="0"/>
            <a:r>
              <a:rPr/>
              <a:t>This operator can be used any number of times to specify higher levels of the file structure.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Base R</a:t>
            </a:r>
          </a:p>
        </p:txBody>
      </p:sp>
      <p:sp>
        <p:nvSpPr>
          <p:cNvPr id="3" name="Content Placeholder 2"/>
          <p:cNvSpPr>
            <a:spLocks noGrp="1"/>
          </p:cNvSpPr>
          <p:nvPr>
            <p:ph idx="1"/>
          </p:nvPr>
        </p:nvSpPr>
        <p:spPr/>
        <p:txBody>
          <a:bodyPr/>
          <a:lstStyle/>
          <a:p>
            <a:pPr lvl="0" indent="0">
              <a:buNone/>
            </a:pPr>
            <a:r>
              <a:rPr>
                <a:solidFill>
                  <a:srgbClr val="CFCFC2"/>
                </a:solidFill>
                <a:latin typeface="Courier"/>
              </a:rPr>
              <a:t>badTable </a:t>
            </a:r>
            <a:r>
              <a:rPr>
                <a:solidFill>
                  <a:srgbClr val="27AE60"/>
                </a:solidFill>
                <a:latin typeface="Courier"/>
              </a:rPr>
              <a:t>&lt;-</a:t>
            </a:r>
            <a:r>
              <a:rPr>
                <a:solidFill>
                  <a:srgbClr val="CFCFC2"/>
                </a:solidFill>
                <a:latin typeface="Courier"/>
              </a:rPr>
              <a:t> </a:t>
            </a:r>
            <a:r>
              <a:rPr>
                <a:solidFill>
                  <a:srgbClr val="8E44AD"/>
                </a:solidFill>
                <a:latin typeface="Courier"/>
              </a:rPr>
              <a:t>read.table</a:t>
            </a:r>
            <a:r>
              <a:rPr>
                <a:solidFill>
                  <a:srgbClr val="CFCFC2"/>
                </a:solidFill>
                <a:latin typeface="Courier"/>
              </a:rPr>
              <a:t>(</a:t>
            </a:r>
            <a:r>
              <a:rPr>
                <a:solidFill>
                  <a:srgbClr val="F44F4F"/>
                </a:solidFill>
                <a:latin typeface="Courier"/>
              </a:rPr>
              <a:t>"../../data/health_data.csv"</a:t>
            </a:r>
            <a:r>
              <a:rPr>
                <a:solidFill>
                  <a:srgbClr val="CFCFC2"/>
                </a:solidFill>
                <a:latin typeface="Courier"/>
              </a:rPr>
              <a:t>) </a:t>
            </a:r>
            <a:r>
              <a:rPr>
                <a:solidFill>
                  <a:srgbClr val="7A7C7D"/>
                </a:solidFill>
                <a:latin typeface="Courier"/>
              </a:rPr>
              <a:t># this will be an ugly mess of strings--trust me</a:t>
            </a:r>
            <a:br/>
            <a:r>
              <a:rPr>
                <a:solidFill>
                  <a:srgbClr val="CFCFC2"/>
                </a:solidFill>
                <a:latin typeface="Courier"/>
              </a:rPr>
              <a:t>badTable[</a:t>
            </a:r>
            <a:r>
              <a:rPr>
                <a:solidFill>
                  <a:srgbClr val="F67400"/>
                </a:solidFill>
                <a:latin typeface="Courier"/>
              </a:rPr>
              <a:t>1</a:t>
            </a:r>
            <a:r>
              <a:rPr>
                <a:solidFill>
                  <a:srgbClr val="CFCFC2"/>
                </a:solidFill>
                <a:latin typeface="Courier"/>
              </a:rPr>
              <a:t>,]</a:t>
            </a:r>
          </a:p>
          <a:p>
            <a:pPr lvl="0" indent="0">
              <a:buNone/>
            </a:pPr>
            <a:r>
              <a:rPr>
                <a:latin typeface="Courier"/>
              </a:rPr>
              <a:t>## [1] "id,group,gender,age,smoker,weight_pre,weight_post,bmi_pre,bmi_post,vo2max_pre,vo2max_post,improved"</a:t>
            </a:r>
          </a:p>
          <a:p>
            <a:pPr lvl="0" indent="0">
              <a:buNone/>
            </a:pPr>
            <a:r>
              <a:rPr>
                <a:solidFill>
                  <a:srgbClr val="CFCFC2"/>
                </a:solidFill>
                <a:latin typeface="Courier"/>
              </a:rPr>
              <a:t>baTable </a:t>
            </a:r>
            <a:r>
              <a:rPr>
                <a:solidFill>
                  <a:srgbClr val="27AE60"/>
                </a:solidFill>
                <a:latin typeface="Courier"/>
              </a:rPr>
              <a:t>&lt;-</a:t>
            </a:r>
            <a:r>
              <a:rPr>
                <a:solidFill>
                  <a:srgbClr val="CFCFC2"/>
                </a:solidFill>
                <a:latin typeface="Courier"/>
              </a:rPr>
              <a:t> </a:t>
            </a:r>
            <a:r>
              <a:rPr>
                <a:solidFill>
                  <a:srgbClr val="8E44AD"/>
                </a:solidFill>
                <a:latin typeface="Courier"/>
              </a:rPr>
              <a:t>read.table</a:t>
            </a:r>
            <a:r>
              <a:rPr>
                <a:solidFill>
                  <a:srgbClr val="CFCFC2"/>
                </a:solidFill>
                <a:latin typeface="Courier"/>
              </a:rPr>
              <a:t>(</a:t>
            </a:r>
            <a:r>
              <a:rPr>
                <a:solidFill>
                  <a:srgbClr val="F44F4F"/>
                </a:solidFill>
                <a:latin typeface="Courier"/>
              </a:rPr>
              <a:t>"../../data/health_data.csv"</a:t>
            </a:r>
            <a:r>
              <a:rPr>
                <a:solidFill>
                  <a:srgbClr val="CFCFC2"/>
                </a:solidFill>
                <a:latin typeface="Courier"/>
              </a:rPr>
              <a:t>, </a:t>
            </a:r>
            <a:r>
              <a:rPr>
                <a:solidFill>
                  <a:srgbClr val="2980B9"/>
                </a:solidFill>
                <a:latin typeface="Courier"/>
              </a:rPr>
              <a:t>sep =</a:t>
            </a:r>
            <a:r>
              <a:rPr>
                <a:solidFill>
                  <a:srgbClr val="CFCFC2"/>
                </a:solidFill>
                <a:latin typeface="Courier"/>
              </a:rPr>
              <a:t> </a:t>
            </a:r>
            <a:r>
              <a:rPr>
                <a:solidFill>
                  <a:srgbClr val="F44F4F"/>
                </a:solidFill>
                <a:latin typeface="Courier"/>
              </a:rPr>
              <a:t>","</a:t>
            </a:r>
            <a:r>
              <a:rPr>
                <a:solidFill>
                  <a:srgbClr val="CFCFC2"/>
                </a:solidFill>
                <a:latin typeface="Courier"/>
              </a:rPr>
              <a:t>, </a:t>
            </a:r>
            <a:r>
              <a:rPr>
                <a:solidFill>
                  <a:srgbClr val="2980B9"/>
                </a:solidFill>
                <a:latin typeface="Courier"/>
              </a:rPr>
              <a:t>header=</a:t>
            </a:r>
            <a:r>
              <a:rPr b="1">
                <a:solidFill>
                  <a:srgbClr val="27AEAE"/>
                </a:solidFill>
                <a:latin typeface="Courier"/>
              </a:rPr>
              <a:t>TRUE</a:t>
            </a:r>
            <a:r>
              <a:rPr>
                <a:solidFill>
                  <a:srgbClr val="CFCFC2"/>
                </a:solidFill>
                <a:latin typeface="Courier"/>
              </a:rPr>
              <a:t>)</a:t>
            </a:r>
            <a:br/>
            <a:r>
              <a:rPr>
                <a:solidFill>
                  <a:srgbClr val="CFCFC2"/>
                </a:solidFill>
                <a:latin typeface="Courier"/>
              </a:rPr>
              <a:t>baTable </a:t>
            </a:r>
            <a:r>
              <a:rPr>
                <a:solidFill>
                  <a:srgbClr val="3DAEE9"/>
                </a:solidFill>
                <a:latin typeface="Courier"/>
              </a:rPr>
              <a:t>%&gt;%</a:t>
            </a:r>
            <a:r>
              <a:rPr>
                <a:solidFill>
                  <a:srgbClr val="CFCFC2"/>
                </a:solidFill>
                <a:latin typeface="Courier"/>
              </a:rPr>
              <a:t> </a:t>
            </a:r>
            <a:r>
              <a:rPr>
                <a:solidFill>
                  <a:srgbClr val="8E44AD"/>
                </a:solidFill>
                <a:latin typeface="Courier"/>
              </a:rPr>
              <a:t>head</a:t>
            </a:r>
            <a:r>
              <a:rPr>
                <a:solidFill>
                  <a:srgbClr val="CFCFC2"/>
                </a:solidFill>
                <a:latin typeface="Courier"/>
              </a:rPr>
              <a:t>(</a:t>
            </a:r>
            <a:r>
              <a:rPr>
                <a:solidFill>
                  <a:srgbClr val="F67400"/>
                </a:solidFill>
                <a:latin typeface="Courier"/>
              </a:rPr>
              <a:t>1</a:t>
            </a:r>
            <a:r>
              <a:rPr>
                <a:solidFill>
                  <a:srgbClr val="CFCFC2"/>
                </a:solidFill>
                <a:latin typeface="Courier"/>
              </a:rPr>
              <a:t>)</a:t>
            </a:r>
          </a:p>
          <a:p>
            <a:pPr lvl="0" indent="0">
              <a:buNone/>
            </a:pPr>
            <a:r>
              <a:rPr>
                <a:latin typeface="Courier"/>
              </a:rPr>
              <a:t>##   id   group gender age smoker weight_pre weight_post bmi_pre bmi_post
## 1  1 Control Female  28     No       78.3        78.4    26.2     26.3
##   vo2max_pre vo2max_post improved
## 1       46.4        45.4    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read.csv()</a:t>
            </a:r>
          </a:p>
        </p:txBody>
      </p:sp>
      <p:sp>
        <p:nvSpPr>
          <p:cNvPr id="3" name="Content Placeholder 2"/>
          <p:cNvSpPr>
            <a:spLocks noGrp="1"/>
          </p:cNvSpPr>
          <p:nvPr>
            <p:ph idx="1"/>
          </p:nvPr>
        </p:nvSpPr>
        <p:spPr/>
        <p:txBody>
          <a:bodyPr/>
          <a:lstStyle/>
          <a:p>
            <a:pPr lvl="0" indent="0">
              <a:buNone/>
            </a:pPr>
            <a:r>
              <a:rPr>
                <a:solidFill>
                  <a:srgbClr val="7A7C7D"/>
                </a:solidFill>
                <a:latin typeface="Courier"/>
              </a:rPr>
              <a:t># import from directory</a:t>
            </a:r>
            <a:br/>
            <a:r>
              <a:rPr>
                <a:solidFill>
                  <a:srgbClr val="CFCFC2"/>
                </a:solidFill>
                <a:latin typeface="Courier"/>
              </a:rPr>
              <a:t>data_local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2980B9"/>
                </a:solidFill>
                <a:latin typeface="Courier"/>
              </a:rPr>
              <a:t>file =</a:t>
            </a:r>
            <a:r>
              <a:rPr>
                <a:solidFill>
                  <a:srgbClr val="CFCFC2"/>
                </a:solidFill>
                <a:latin typeface="Courier"/>
              </a:rPr>
              <a:t> </a:t>
            </a:r>
            <a:r>
              <a:rPr>
                <a:solidFill>
                  <a:srgbClr val="F44F4F"/>
                </a:solidFill>
                <a:latin typeface="Courier"/>
              </a:rPr>
              <a:t>"../../data/gapminder.csv"</a:t>
            </a:r>
            <a:r>
              <a:rPr>
                <a:solidFill>
                  <a:srgbClr val="CFCFC2"/>
                </a:solidFill>
                <a:latin typeface="Courier"/>
              </a:rPr>
              <a:t>)</a:t>
            </a:r>
            <a:br/>
            <a:br/>
            <a:r>
              <a:rPr>
                <a:solidFill>
                  <a:srgbClr val="7A7C7D"/>
                </a:solidFill>
                <a:latin typeface="Courier"/>
              </a:rPr>
              <a:t># import from url</a:t>
            </a:r>
            <a:br/>
            <a:r>
              <a:rPr>
                <a:solidFill>
                  <a:srgbClr val="CFCFC2"/>
                </a:solidFill>
                <a:latin typeface="Courier"/>
              </a:rPr>
              <a:t>url </a:t>
            </a:r>
            <a:r>
              <a:rPr>
                <a:solidFill>
                  <a:srgbClr val="27AE60"/>
                </a:solidFill>
                <a:latin typeface="Courier"/>
              </a:rPr>
              <a:t>&lt;-</a:t>
            </a:r>
            <a:r>
              <a:rPr>
                <a:solidFill>
                  <a:srgbClr val="CFCFC2"/>
                </a:solidFill>
                <a:latin typeface="Courier"/>
              </a:rPr>
              <a:t> </a:t>
            </a:r>
            <a:r>
              <a:rPr>
                <a:solidFill>
                  <a:srgbClr val="F44F4F"/>
                </a:solidFill>
                <a:latin typeface="Courier"/>
              </a:rPr>
              <a:t>'https://raw.githubusercontent.com/jstaf/gapminder/master/gapminder/gapminder.csv'</a:t>
            </a:r>
            <a:br/>
            <a:r>
              <a:rPr>
                <a:solidFill>
                  <a:srgbClr val="CFCFC2"/>
                </a:solidFill>
                <a:latin typeface="Courier"/>
              </a:rPr>
              <a:t>data_url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(url)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Missing values and inconsistencies</a:t>
            </a:r>
          </a:p>
        </p:txBody>
      </p:sp>
      <p:sp>
        <p:nvSpPr>
          <p:cNvPr id="3" name="Content Placeholder 2"/>
          <p:cNvSpPr>
            <a:spLocks noGrp="1"/>
          </p:cNvSpPr>
          <p:nvPr>
            <p:ph idx="1"/>
          </p:nvPr>
        </p:nvSpPr>
        <p:spPr/>
        <p:txBody>
          <a:bodyPr/>
          <a:lstStyle/>
          <a:p>
            <a:pPr lvl="0" indent="0">
              <a:buNone/>
            </a:pPr>
            <a:r>
              <a:rPr>
                <a:solidFill>
                  <a:srgbClr val="7A7C7D"/>
                </a:solidFill>
                <a:latin typeface="Courier"/>
              </a:rPr>
              <a:t># a set of possible NA values</a:t>
            </a:r>
            <a:br/>
            <a:r>
              <a:rPr>
                <a:solidFill>
                  <a:srgbClr val="CFCFC2"/>
                </a:solidFill>
                <a:latin typeface="Courier"/>
              </a:rPr>
              <a:t>na_values </a:t>
            </a:r>
            <a:r>
              <a:rPr>
                <a:solidFill>
                  <a:srgbClr val="27AE60"/>
                </a:solidFill>
                <a:latin typeface="Courier"/>
              </a:rPr>
              <a:t>&lt;-</a:t>
            </a:r>
            <a:r>
              <a:rPr>
                <a:solidFill>
                  <a:srgbClr val="CFCFC2"/>
                </a:solidFill>
                <a:latin typeface="Courier"/>
              </a:rPr>
              <a:t> </a:t>
            </a:r>
            <a:r>
              <a:rPr>
                <a:solidFill>
                  <a:srgbClr val="8E44AD"/>
                </a:solidFill>
                <a:latin typeface="Courier"/>
              </a:rPr>
              <a:t>c</a:t>
            </a:r>
            <a:r>
              <a:rPr>
                <a:solidFill>
                  <a:srgbClr val="CFCFC2"/>
                </a:solidFill>
                <a:latin typeface="Courier"/>
              </a:rPr>
              <a:t>(</a:t>
            </a:r>
            <a:r>
              <a:rPr>
                <a:solidFill>
                  <a:srgbClr val="F44F4F"/>
                </a:solidFill>
                <a:latin typeface="Courier"/>
              </a:rPr>
              <a:t>"NULL"</a:t>
            </a:r>
            <a:r>
              <a:rPr>
                <a:solidFill>
                  <a:srgbClr val="CFCFC2"/>
                </a:solidFill>
                <a:latin typeface="Courier"/>
              </a:rPr>
              <a:t>, </a:t>
            </a:r>
            <a:r>
              <a:rPr>
                <a:solidFill>
                  <a:srgbClr val="F44F4F"/>
                </a:solidFill>
                <a:latin typeface="Courier"/>
              </a:rPr>
              <a:t>"NA"</a:t>
            </a:r>
            <a:r>
              <a:rPr>
                <a:solidFill>
                  <a:srgbClr val="CFCFC2"/>
                </a:solidFill>
                <a:latin typeface="Courier"/>
              </a:rPr>
              <a:t>, </a:t>
            </a:r>
            <a:r>
              <a:rPr>
                <a:solidFill>
                  <a:srgbClr val="F44F4F"/>
                </a:solidFill>
                <a:latin typeface="Courier"/>
              </a:rPr>
              <a:t>"N/A"</a:t>
            </a:r>
            <a:r>
              <a:rPr>
                <a:solidFill>
                  <a:srgbClr val="CFCFC2"/>
                </a:solidFill>
                <a:latin typeface="Courier"/>
              </a:rPr>
              <a:t>, </a:t>
            </a:r>
            <a:r>
              <a:rPr>
                <a:solidFill>
                  <a:srgbClr val="F44F4F"/>
                </a:solidFill>
                <a:latin typeface="Courier"/>
              </a:rPr>
              <a:t>"99"</a:t>
            </a:r>
            <a:r>
              <a:rPr>
                <a:solidFill>
                  <a:srgbClr val="CFCFC2"/>
                </a:solidFill>
                <a:latin typeface="Courier"/>
              </a:rPr>
              <a:t>, </a:t>
            </a:r>
            <a:r>
              <a:rPr>
                <a:solidFill>
                  <a:srgbClr val="F44F4F"/>
                </a:solidFill>
                <a:latin typeface="Courier"/>
              </a:rPr>
              <a:t>""</a:t>
            </a:r>
            <a:r>
              <a:rPr>
                <a:solidFill>
                  <a:srgbClr val="CFCFC2"/>
                </a:solidFill>
                <a:latin typeface="Courier"/>
              </a:rPr>
              <a:t>, </a:t>
            </a:r>
            <a:r>
              <a:rPr>
                <a:solidFill>
                  <a:srgbClr val="F44F4F"/>
                </a:solidFill>
                <a:latin typeface="Courier"/>
              </a:rPr>
              <a:t>" "</a:t>
            </a:r>
            <a:r>
              <a:rPr>
                <a:solidFill>
                  <a:srgbClr val="CFCFC2"/>
                </a:solidFill>
                <a:latin typeface="Courier"/>
              </a:rPr>
              <a:t>)</a:t>
            </a:r>
            <a:br/>
            <a:r>
              <a:rPr>
                <a:solidFill>
                  <a:srgbClr val="CFCFC2"/>
                </a:solidFill>
                <a:latin typeface="Courier"/>
              </a:rPr>
              <a:t>data_custom_na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2980B9"/>
                </a:solidFill>
                <a:latin typeface="Courier"/>
              </a:rPr>
              <a:t>file =</a:t>
            </a:r>
            <a:r>
              <a:rPr>
                <a:solidFill>
                  <a:srgbClr val="CFCFC2"/>
                </a:solidFill>
                <a:latin typeface="Courier"/>
              </a:rPr>
              <a:t> </a:t>
            </a:r>
            <a:r>
              <a:rPr>
                <a:solidFill>
                  <a:srgbClr val="F44F4F"/>
                </a:solidFill>
                <a:latin typeface="Courier"/>
              </a:rPr>
              <a:t>"../../data/gapminder.csv"</a:t>
            </a:r>
            <a:r>
              <a:rPr>
                <a:solidFill>
                  <a:srgbClr val="CFCFC2"/>
                </a:solidFill>
                <a:latin typeface="Courier"/>
              </a:rPr>
              <a:t>, </a:t>
            </a:r>
            <a:r>
              <a:rPr>
                <a:solidFill>
                  <a:srgbClr val="2980B9"/>
                </a:solidFill>
                <a:latin typeface="Courier"/>
              </a:rPr>
              <a:t>na.strings =</a:t>
            </a:r>
            <a:r>
              <a:rPr>
                <a:solidFill>
                  <a:srgbClr val="CFCFC2"/>
                </a:solidFill>
                <a:latin typeface="Courier"/>
              </a:rPr>
              <a:t> na_values)</a:t>
            </a:r>
            <a:br/>
            <a:br/>
            <a:r>
              <a:rPr>
                <a:solidFill>
                  <a:srgbClr val="7A7C7D"/>
                </a:solidFill>
                <a:latin typeface="Courier"/>
              </a:rPr>
              <a:t># a file with no header</a:t>
            </a:r>
            <a:br/>
            <a:r>
              <a:rPr>
                <a:solidFill>
                  <a:srgbClr val="CFCFC2"/>
                </a:solidFill>
                <a:latin typeface="Courier"/>
              </a:rPr>
              <a:t>data_no_header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2980B9"/>
                </a:solidFill>
                <a:latin typeface="Courier"/>
              </a:rPr>
              <a:t>file =</a:t>
            </a:r>
            <a:r>
              <a:rPr>
                <a:solidFill>
                  <a:srgbClr val="CFCFC2"/>
                </a:solidFill>
                <a:latin typeface="Courier"/>
              </a:rPr>
              <a:t> </a:t>
            </a:r>
            <a:r>
              <a:rPr>
                <a:solidFill>
                  <a:srgbClr val="F44F4F"/>
                </a:solidFill>
                <a:latin typeface="Courier"/>
              </a:rPr>
              <a:t>"../../data/gapminder.csv"</a:t>
            </a:r>
            <a:r>
              <a:rPr>
                <a:solidFill>
                  <a:srgbClr val="CFCFC2"/>
                </a:solidFill>
                <a:latin typeface="Courier"/>
              </a:rPr>
              <a:t>, </a:t>
            </a:r>
            <a:r>
              <a:rPr>
                <a:solidFill>
                  <a:srgbClr val="2980B9"/>
                </a:solidFill>
                <a:latin typeface="Courier"/>
              </a:rPr>
              <a:t>header =</a:t>
            </a:r>
            <a:r>
              <a:rPr>
                <a:solidFill>
                  <a:srgbClr val="CFCFC2"/>
                </a:solidFill>
                <a:latin typeface="Courier"/>
              </a:rPr>
              <a:t> </a:t>
            </a:r>
            <a:r>
              <a:rPr b="1">
                <a:solidFill>
                  <a:srgbClr val="27AEAE"/>
                </a:solidFill>
                <a:latin typeface="Courier"/>
              </a:rPr>
              <a:t>FALSE</a:t>
            </a:r>
            <a:r>
              <a:rPr>
                <a:solidFill>
                  <a:srgbClr val="CFCFC2"/>
                </a:solidFill>
                <a:latin typeface="Courier"/>
              </a:rPr>
              <a:t>)</a:t>
            </a:r>
            <a:br/>
            <a:br/>
            <a:r>
              <a:rPr>
                <a:solidFill>
                  <a:srgbClr val="CFCFC2"/>
                </a:solidFill>
                <a:latin typeface="Courier"/>
              </a:rPr>
              <a:t>data_nows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2980B9"/>
                </a:solidFill>
                <a:latin typeface="Courier"/>
              </a:rPr>
              <a:t>file =</a:t>
            </a:r>
            <a:r>
              <a:rPr>
                <a:solidFill>
                  <a:srgbClr val="CFCFC2"/>
                </a:solidFill>
                <a:latin typeface="Courier"/>
              </a:rPr>
              <a:t> </a:t>
            </a:r>
            <a:r>
              <a:rPr>
                <a:solidFill>
                  <a:srgbClr val="F44F4F"/>
                </a:solidFill>
                <a:latin typeface="Courier"/>
              </a:rPr>
              <a:t>"../../data/gapminder.csv"</a:t>
            </a:r>
            <a:r>
              <a:rPr>
                <a:solidFill>
                  <a:srgbClr val="CFCFC2"/>
                </a:solidFill>
                <a:latin typeface="Courier"/>
              </a:rPr>
              <a:t>, </a:t>
            </a:r>
            <a:r>
              <a:rPr>
                <a:solidFill>
                  <a:srgbClr val="2980B9"/>
                </a:solidFill>
                <a:latin typeface="Courier"/>
              </a:rPr>
              <a:t>strip.white =</a:t>
            </a:r>
            <a:r>
              <a:rPr>
                <a:solidFill>
                  <a:srgbClr val="CFCFC2"/>
                </a:solidFill>
                <a:latin typeface="Courier"/>
              </a:rPr>
              <a:t> </a:t>
            </a:r>
            <a:r>
              <a:rPr b="1">
                <a:solidFill>
                  <a:srgbClr val="27AEAE"/>
                </a:solidFill>
                <a:latin typeface="Courier"/>
              </a:rPr>
              <a:t>TRUE</a:t>
            </a:r>
            <a:r>
              <a:rPr>
                <a:solidFill>
                  <a:srgbClr val="CFCFC2"/>
                </a:solidFill>
                <a:latin typeface="Courier"/>
              </a:rPr>
              <a:t>)</a:t>
            </a:r>
            <a:br/>
            <a:br/>
            <a:r>
              <a:rPr>
                <a:solidFill>
                  <a:srgbClr val="7A7C7D"/>
                </a:solidFill>
                <a:latin typeface="Courier"/>
              </a:rPr>
              <a:t># additional options can be found (as always with ?)</a:t>
            </a:r>
            <a:br/>
            <a:r>
              <a:rPr>
                <a:solidFill>
                  <a:srgbClr val="7A7C7D"/>
                </a:solidFill>
                <a:latin typeface="Courier"/>
              </a:rPr>
              <a:t># ?read.csv()</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Tidyverse</a:t>
            </a:r>
          </a:p>
        </p:txBody>
      </p:sp>
      <p:sp>
        <p:nvSpPr>
          <p:cNvPr id="3" name="Content Placeholder 2"/>
          <p:cNvSpPr>
            <a:spLocks noGrp="1"/>
          </p:cNvSpPr>
          <p:nvPr>
            <p:ph idx="1"/>
          </p:nvPr>
        </p:nvSpPr>
        <p:spPr/>
        <p:txBody>
          <a:bodyPr/>
          <a:lstStyle/>
          <a:p>
            <a:pPr lvl="0" indent="0">
              <a:buNone/>
            </a:pPr>
            <a:r>
              <a:rPr>
                <a:solidFill>
                  <a:srgbClr val="8E44AD"/>
                </a:solidFill>
                <a:latin typeface="Courier"/>
              </a:rPr>
              <a:t>library</a:t>
            </a:r>
            <a:r>
              <a:rPr>
                <a:solidFill>
                  <a:srgbClr val="CFCFC2"/>
                </a:solidFill>
                <a:latin typeface="Courier"/>
              </a:rPr>
              <a:t>(readr)</a:t>
            </a:r>
            <a:br/>
            <a:r>
              <a:rPr>
                <a:solidFill>
                  <a:srgbClr val="CFCFC2"/>
                </a:solidFill>
                <a:latin typeface="Courier"/>
              </a:rPr>
              <a:t>data_readr </a:t>
            </a:r>
            <a:r>
              <a:rPr>
                <a:solidFill>
                  <a:srgbClr val="27AE60"/>
                </a:solidFill>
                <a:latin typeface="Courier"/>
              </a:rPr>
              <a:t>&lt;-</a:t>
            </a:r>
            <a:r>
              <a:rPr>
                <a:solidFill>
                  <a:srgbClr val="CFCFC2"/>
                </a:solidFill>
                <a:latin typeface="Courier"/>
              </a:rPr>
              <a:t> </a:t>
            </a:r>
            <a:r>
              <a:rPr>
                <a:solidFill>
                  <a:srgbClr val="8E44AD"/>
                </a:solidFill>
                <a:latin typeface="Courier"/>
              </a:rPr>
              <a:t>read_csv</a:t>
            </a:r>
            <a:r>
              <a:rPr>
                <a:solidFill>
                  <a:srgbClr val="CFCFC2"/>
                </a:solidFill>
                <a:latin typeface="Courier"/>
              </a:rPr>
              <a:t>(</a:t>
            </a:r>
            <a:r>
              <a:rPr>
                <a:solidFill>
                  <a:srgbClr val="2980B9"/>
                </a:solidFill>
                <a:latin typeface="Courier"/>
              </a:rPr>
              <a:t>file =</a:t>
            </a:r>
            <a:r>
              <a:rPr>
                <a:solidFill>
                  <a:srgbClr val="CFCFC2"/>
                </a:solidFill>
                <a:latin typeface="Courier"/>
              </a:rPr>
              <a:t> </a:t>
            </a:r>
            <a:r>
              <a:rPr>
                <a:solidFill>
                  <a:srgbClr val="F44F4F"/>
                </a:solidFill>
                <a:latin typeface="Courier"/>
              </a:rPr>
              <a:t>"../../data/gapminder.csv"</a:t>
            </a:r>
            <a:r>
              <a:rPr>
                <a:solidFill>
                  <a:srgbClr val="CFCFC2"/>
                </a:solidFill>
                <a:latin typeface="Courier"/>
              </a:rPr>
              <a:t>)</a:t>
            </a:r>
          </a:p>
          <a:p>
            <a:pPr lvl="0" indent="0">
              <a:buNone/>
            </a:pPr>
            <a:r>
              <a:rPr>
                <a:latin typeface="Courier"/>
              </a:rPr>
              <a:t>## Rows: 1704 Columns: 6
## ── Column specification ────────────────────────────────────────────────────────
## Delimiter: ","
## chr (2): country, continent
## dbl (4): year, lifeExp, pop, gdpPercap
## 
## ℹ Use `spec()` to retrieve the full column specification for this data.
## ℹ Specify the column types or set `show_col_types = FALSE` to quiet this message.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Excel</a:t>
            </a:r>
          </a:p>
        </p:txBody>
      </p:sp>
      <p:sp>
        <p:nvSpPr>
          <p:cNvPr id="3" name="Content Placeholder 2"/>
          <p:cNvSpPr>
            <a:spLocks noGrp="1"/>
          </p:cNvSpPr>
          <p:nvPr>
            <p:ph idx="1"/>
          </p:nvPr>
        </p:nvSpPr>
        <p:spPr/>
        <p:txBody>
          <a:bodyPr/>
          <a:lstStyle/>
          <a:p>
            <a:pPr lvl="0" indent="0">
              <a:buNone/>
            </a:pPr>
            <a:r>
              <a:rPr>
                <a:solidFill>
                  <a:srgbClr val="8E44AD"/>
                </a:solidFill>
                <a:latin typeface="Courier"/>
              </a:rPr>
              <a:t>library</a:t>
            </a:r>
            <a:r>
              <a:rPr>
                <a:solidFill>
                  <a:srgbClr val="CFCFC2"/>
                </a:solidFill>
                <a:latin typeface="Courier"/>
              </a:rPr>
              <a:t>(readxl)</a:t>
            </a:r>
          </a:p>
          <a:p>
            <a:pPr lvl="0" indent="0">
              <a:buNone/>
            </a:pPr>
            <a:r>
              <a:rPr>
                <a:latin typeface="Courier"/>
              </a:rPr>
              <a:t>## Warning: package 'readxl' was built under R version 4.4.2</a:t>
            </a:r>
          </a:p>
          <a:p>
            <a:pPr lvl="0" indent="0">
              <a:buNone/>
            </a:pPr>
            <a:r>
              <a:rPr>
                <a:solidFill>
                  <a:srgbClr val="CFCFC2"/>
                </a:solidFill>
                <a:latin typeface="Courier"/>
              </a:rPr>
              <a:t>data_xls </a:t>
            </a:r>
            <a:r>
              <a:rPr>
                <a:solidFill>
                  <a:srgbClr val="27AE60"/>
                </a:solidFill>
                <a:latin typeface="Courier"/>
              </a:rPr>
              <a:t>&lt;-</a:t>
            </a:r>
            <a:r>
              <a:rPr>
                <a:solidFill>
                  <a:srgbClr val="CFCFC2"/>
                </a:solidFill>
                <a:latin typeface="Courier"/>
              </a:rPr>
              <a:t> </a:t>
            </a:r>
            <a:r>
              <a:rPr>
                <a:solidFill>
                  <a:srgbClr val="8E44AD"/>
                </a:solidFill>
                <a:latin typeface="Courier"/>
              </a:rPr>
              <a:t>read_excel</a:t>
            </a:r>
            <a:r>
              <a:rPr>
                <a:solidFill>
                  <a:srgbClr val="CFCFC2"/>
                </a:solidFill>
                <a:latin typeface="Courier"/>
              </a:rPr>
              <a:t>(</a:t>
            </a:r>
            <a:r>
              <a:rPr>
                <a:solidFill>
                  <a:srgbClr val="F44F4F"/>
                </a:solidFill>
                <a:latin typeface="Courier"/>
              </a:rPr>
              <a:t>"../../data/gapminder.xlsx"</a:t>
            </a:r>
            <a:r>
              <a:rPr>
                <a:solidFill>
                  <a:srgbClr val="CFCFC2"/>
                </a:solidFill>
                <a:latin typeface="Courier"/>
              </a:rPr>
              <a:t>)</a:t>
            </a:r>
            <a:br/>
            <a:r>
              <a:rPr>
                <a:solidFill>
                  <a:srgbClr val="CFCFC2"/>
                </a:solidFill>
                <a:latin typeface="Courier"/>
              </a:rPr>
              <a:t>data_xls_df </a:t>
            </a:r>
            <a:r>
              <a:rPr>
                <a:solidFill>
                  <a:srgbClr val="27AE60"/>
                </a:solidFill>
                <a:latin typeface="Courier"/>
              </a:rPr>
              <a:t>&lt;-</a:t>
            </a:r>
            <a:r>
              <a:rPr>
                <a:solidFill>
                  <a:srgbClr val="CFCFC2"/>
                </a:solidFill>
                <a:latin typeface="Courier"/>
              </a:rPr>
              <a:t> </a:t>
            </a:r>
            <a:r>
              <a:rPr>
                <a:solidFill>
                  <a:srgbClr val="8E44AD"/>
                </a:solidFill>
                <a:latin typeface="Courier"/>
              </a:rPr>
              <a:t>as.data.frame</a:t>
            </a:r>
            <a:r>
              <a:rPr>
                <a:solidFill>
                  <a:srgbClr val="CFCFC2"/>
                </a:solidFill>
                <a:latin typeface="Courier"/>
              </a:rPr>
              <a:t>(</a:t>
            </a:r>
            <a:r>
              <a:rPr>
                <a:solidFill>
                  <a:srgbClr val="8E44AD"/>
                </a:solidFill>
                <a:latin typeface="Courier"/>
              </a:rPr>
              <a:t>read_excel</a:t>
            </a:r>
            <a:r>
              <a:rPr>
                <a:solidFill>
                  <a:srgbClr val="CFCFC2"/>
                </a:solidFill>
                <a:latin typeface="Courier"/>
              </a:rPr>
              <a:t>(</a:t>
            </a:r>
            <a:r>
              <a:rPr>
                <a:solidFill>
                  <a:srgbClr val="F44F4F"/>
                </a:solidFill>
                <a:latin typeface="Courier"/>
              </a:rPr>
              <a:t>"../../data/gapminder.xlsx"</a:t>
            </a:r>
            <a:r>
              <a:rPr>
                <a:solidFill>
                  <a:srgbClr val="CFCFC2"/>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More In-Depth with Tidyverse </a:t>
            </a:r>
            <a:r>
              <a:rPr>
                <a:latin typeface="Courier"/>
              </a:rPr>
              <a:t>read_excel</a:t>
            </a:r>
          </a:p>
        </p:txBody>
      </p:sp>
      <p:sp>
        <p:nvSpPr>
          <p:cNvPr id="3" name="Content Placeholder 2"/>
          <p:cNvSpPr>
            <a:spLocks noGrp="1"/>
          </p:cNvSpPr>
          <p:nvPr>
            <p:ph idx="1"/>
          </p:nvPr>
        </p:nvSpPr>
        <p:spPr/>
        <p:txBody>
          <a:bodyPr/>
          <a:lstStyle/>
          <a:p>
            <a:pPr lvl="0" indent="0">
              <a:buNone/>
            </a:pPr>
            <a:r>
              <a:rPr>
                <a:solidFill>
                  <a:srgbClr val="CFCFC2"/>
                </a:solidFill>
                <a:latin typeface="Courier"/>
              </a:rPr>
              <a:t>data_xls </a:t>
            </a:r>
            <a:r>
              <a:rPr>
                <a:solidFill>
                  <a:srgbClr val="27AE60"/>
                </a:solidFill>
                <a:latin typeface="Courier"/>
              </a:rPr>
              <a:t>&lt;-</a:t>
            </a:r>
            <a:r>
              <a:rPr>
                <a:solidFill>
                  <a:srgbClr val="CFCFC2"/>
                </a:solidFill>
                <a:latin typeface="Courier"/>
              </a:rPr>
              <a:t> </a:t>
            </a:r>
            <a:r>
              <a:rPr>
                <a:solidFill>
                  <a:srgbClr val="8E44AD"/>
                </a:solidFill>
                <a:latin typeface="Courier"/>
              </a:rPr>
              <a:t>read_excel</a:t>
            </a:r>
            <a:r>
              <a:rPr>
                <a:solidFill>
                  <a:srgbClr val="CFCFC2"/>
                </a:solidFill>
                <a:latin typeface="Courier"/>
              </a:rPr>
              <a:t>(</a:t>
            </a:r>
            <a:r>
              <a:rPr>
                <a:solidFill>
                  <a:srgbClr val="F44F4F"/>
                </a:solidFill>
                <a:latin typeface="Courier"/>
              </a:rPr>
              <a:t>"../../data/gapminder.xlsx"</a:t>
            </a:r>
            <a:r>
              <a:rPr>
                <a:solidFill>
                  <a:srgbClr val="CFCFC2"/>
                </a:solidFill>
                <a:latin typeface="Courier"/>
              </a:rPr>
              <a:t>, </a:t>
            </a:r>
            <a:r>
              <a:rPr>
                <a:solidFill>
                  <a:srgbClr val="2980B9"/>
                </a:solidFill>
                <a:latin typeface="Courier"/>
              </a:rPr>
              <a:t>sheet =</a:t>
            </a:r>
            <a:r>
              <a:rPr>
                <a:solidFill>
                  <a:srgbClr val="CFCFC2"/>
                </a:solidFill>
                <a:latin typeface="Courier"/>
              </a:rPr>
              <a:t> </a:t>
            </a:r>
            <a:r>
              <a:rPr>
                <a:solidFill>
                  <a:srgbClr val="F44F4F"/>
                </a:solidFill>
                <a:latin typeface="Courier"/>
              </a:rPr>
              <a:t>'1952'</a:t>
            </a:r>
            <a:r>
              <a:rPr>
                <a:solidFill>
                  <a:srgbClr val="CFCFC2"/>
                </a:solidFill>
                <a:latin typeface="Courier"/>
              </a:rPr>
              <a:t>, </a:t>
            </a:r>
            <a:r>
              <a:rPr>
                <a:solidFill>
                  <a:srgbClr val="2980B9"/>
                </a:solidFill>
                <a:latin typeface="Courier"/>
              </a:rPr>
              <a:t>range =</a:t>
            </a:r>
            <a:r>
              <a:rPr>
                <a:solidFill>
                  <a:srgbClr val="CFCFC2"/>
                </a:solidFill>
                <a:latin typeface="Courier"/>
              </a:rPr>
              <a:t> </a:t>
            </a:r>
            <a:r>
              <a:rPr>
                <a:solidFill>
                  <a:srgbClr val="F44F4F"/>
                </a:solidFill>
                <a:latin typeface="Courier"/>
              </a:rPr>
              <a:t>"A1:D5"</a:t>
            </a:r>
            <a:r>
              <a:rPr>
                <a:solidFill>
                  <a:srgbClr val="CFCFC2"/>
                </a:solidFill>
                <a:latin typeface="Courier"/>
              </a:rPr>
              <a: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Advanced topic: importing multiple files with </a:t>
            </a:r>
            <a:r>
              <a:rPr>
                <a:latin typeface="Courier"/>
              </a:rPr>
              <a:t>purrr</a:t>
            </a:r>
          </a:p>
        </p:txBody>
      </p:sp>
      <p:sp>
        <p:nvSpPr>
          <p:cNvPr id="3" name="Content Placeholder 2"/>
          <p:cNvSpPr>
            <a:spLocks noGrp="1"/>
          </p:cNvSpPr>
          <p:nvPr>
            <p:ph idx="1"/>
          </p:nvPr>
        </p:nvSpPr>
        <p:spPr/>
        <p:txBody>
          <a:bodyPr/>
          <a:lstStyle/>
          <a:p>
            <a:pPr lvl="0" indent="0">
              <a:buNone/>
            </a:pPr>
            <a:r>
              <a:rPr>
                <a:solidFill>
                  <a:srgbClr val="7A7C7D"/>
                </a:solidFill>
                <a:latin typeface="Courier"/>
              </a:rPr>
              <a:t># Importing Multiple Files with purrr</a:t>
            </a:r>
            <a:br/>
            <a:r>
              <a:rPr>
                <a:solidFill>
                  <a:srgbClr val="8E44AD"/>
                </a:solidFill>
                <a:latin typeface="Courier"/>
              </a:rPr>
              <a:t>suppressMessages</a:t>
            </a:r>
            <a:r>
              <a:rPr>
                <a:solidFill>
                  <a:srgbClr val="CFCFC2"/>
                </a:solidFill>
                <a:latin typeface="Courier"/>
              </a:rPr>
              <a:t>(</a:t>
            </a:r>
            <a:r>
              <a:rPr>
                <a:solidFill>
                  <a:srgbClr val="8E44AD"/>
                </a:solidFill>
                <a:latin typeface="Courier"/>
              </a:rPr>
              <a:t>suppressWarnings</a:t>
            </a:r>
            <a:r>
              <a:rPr>
                <a:solidFill>
                  <a:srgbClr val="CFCFC2"/>
                </a:solidFill>
                <a:latin typeface="Courier"/>
              </a:rPr>
              <a:t>(</a:t>
            </a:r>
            <a:r>
              <a:rPr>
                <a:solidFill>
                  <a:srgbClr val="8E44AD"/>
                </a:solidFill>
                <a:latin typeface="Courier"/>
              </a:rPr>
              <a:t>library</a:t>
            </a:r>
            <a:r>
              <a:rPr>
                <a:solidFill>
                  <a:srgbClr val="CFCFC2"/>
                </a:solidFill>
                <a:latin typeface="Courier"/>
              </a:rPr>
              <a:t>(tidyverse)))</a:t>
            </a:r>
            <a:br/>
            <a:br/>
            <a:r>
              <a:rPr>
                <a:solidFill>
                  <a:srgbClr val="7A7C7D"/>
                </a:solidFill>
                <a:latin typeface="Courier"/>
              </a:rPr>
              <a:t># 1. Identify all CSV files in a folder</a:t>
            </a:r>
            <a:br/>
            <a:r>
              <a:rPr>
                <a:solidFill>
                  <a:srgbClr val="CFCFC2"/>
                </a:solidFill>
                <a:latin typeface="Courier"/>
              </a:rPr>
              <a:t>files </a:t>
            </a:r>
            <a:r>
              <a:rPr>
                <a:solidFill>
                  <a:srgbClr val="27AE60"/>
                </a:solidFill>
                <a:latin typeface="Courier"/>
              </a:rPr>
              <a:t>&lt;-</a:t>
            </a:r>
            <a:r>
              <a:rPr>
                <a:solidFill>
                  <a:srgbClr val="CFCFC2"/>
                </a:solidFill>
                <a:latin typeface="Courier"/>
              </a:rPr>
              <a:t> </a:t>
            </a:r>
            <a:r>
              <a:rPr>
                <a:solidFill>
                  <a:srgbClr val="8E44AD"/>
                </a:solidFill>
                <a:latin typeface="Courier"/>
              </a:rPr>
              <a:t>list.files</a:t>
            </a:r>
            <a:r>
              <a:rPr>
                <a:solidFill>
                  <a:srgbClr val="CFCFC2"/>
                </a:solidFill>
                <a:latin typeface="Courier"/>
              </a:rPr>
              <a:t>(</a:t>
            </a:r>
            <a:r>
              <a:rPr>
                <a:solidFill>
                  <a:srgbClr val="2980B9"/>
                </a:solidFill>
                <a:latin typeface="Courier"/>
              </a:rPr>
              <a:t>path =</a:t>
            </a:r>
            <a:r>
              <a:rPr>
                <a:solidFill>
                  <a:srgbClr val="CFCFC2"/>
                </a:solidFill>
                <a:latin typeface="Courier"/>
              </a:rPr>
              <a:t> </a:t>
            </a:r>
            <a:r>
              <a:rPr>
                <a:solidFill>
                  <a:srgbClr val="F44F4F"/>
                </a:solidFill>
                <a:latin typeface="Courier"/>
              </a:rPr>
              <a:t>"../../data"</a:t>
            </a:r>
            <a:r>
              <a:rPr>
                <a:solidFill>
                  <a:srgbClr val="CFCFC2"/>
                </a:solidFill>
                <a:latin typeface="Courier"/>
              </a:rPr>
              <a:t>, </a:t>
            </a:r>
            <a:r>
              <a:rPr>
                <a:solidFill>
                  <a:srgbClr val="2980B9"/>
                </a:solidFill>
                <a:latin typeface="Courier"/>
              </a:rPr>
              <a:t>pattern =</a:t>
            </a:r>
            <a:r>
              <a:rPr>
                <a:solidFill>
                  <a:srgbClr val="CFCFC2"/>
                </a:solidFill>
                <a:latin typeface="Courier"/>
              </a:rPr>
              <a:t> </a:t>
            </a:r>
            <a:r>
              <a:rPr>
                <a:solidFill>
                  <a:srgbClr val="F44F4F"/>
                </a:solidFill>
                <a:latin typeface="Courier"/>
              </a:rPr>
              <a:t>"</a:t>
            </a:r>
            <a:r>
              <a:rPr>
                <a:solidFill>
                  <a:srgbClr val="3DAEE9"/>
                </a:solidFill>
                <a:latin typeface="Courier"/>
              </a:rPr>
              <a:t>\\</a:t>
            </a:r>
            <a:r>
              <a:rPr>
                <a:solidFill>
                  <a:srgbClr val="F44F4F"/>
                </a:solidFill>
                <a:latin typeface="Courier"/>
              </a:rPr>
              <a:t>.csv$"</a:t>
            </a:r>
            <a:r>
              <a:rPr>
                <a:solidFill>
                  <a:srgbClr val="CFCFC2"/>
                </a:solidFill>
                <a:latin typeface="Courier"/>
              </a:rPr>
              <a:t>, </a:t>
            </a:r>
            <a:r>
              <a:rPr>
                <a:solidFill>
                  <a:srgbClr val="2980B9"/>
                </a:solidFill>
                <a:latin typeface="Courier"/>
              </a:rPr>
              <a:t>full.names =</a:t>
            </a:r>
            <a:r>
              <a:rPr>
                <a:solidFill>
                  <a:srgbClr val="CFCFC2"/>
                </a:solidFill>
                <a:latin typeface="Courier"/>
              </a:rPr>
              <a:t> </a:t>
            </a:r>
            <a:r>
              <a:rPr b="1">
                <a:solidFill>
                  <a:srgbClr val="27AEAE"/>
                </a:solidFill>
                <a:latin typeface="Courier"/>
              </a:rPr>
              <a:t>TRUE</a:t>
            </a:r>
            <a:r>
              <a:rPr>
                <a:solidFill>
                  <a:srgbClr val="CFCFC2"/>
                </a:solidFill>
                <a:latin typeface="Courier"/>
              </a:rPr>
              <a:t>)</a:t>
            </a:r>
            <a:br/>
            <a:br/>
            <a:r>
              <a:rPr>
                <a:solidFill>
                  <a:srgbClr val="7A7C7D"/>
                </a:solidFill>
                <a:latin typeface="Courier"/>
              </a:rPr>
              <a:t># 2. Use purrr::map_dfr() to read and combine them</a:t>
            </a:r>
            <a:br/>
            <a:r>
              <a:rPr>
                <a:solidFill>
                  <a:srgbClr val="CFCFC2"/>
                </a:solidFill>
                <a:latin typeface="Courier"/>
              </a:rPr>
              <a:t>all_data </a:t>
            </a:r>
            <a:r>
              <a:rPr>
                <a:solidFill>
                  <a:srgbClr val="27AE60"/>
                </a:solidFill>
                <a:latin typeface="Courier"/>
              </a:rPr>
              <a:t>&lt;-</a:t>
            </a:r>
            <a:r>
              <a:rPr>
                <a:solidFill>
                  <a:srgbClr val="CFCFC2"/>
                </a:solidFill>
                <a:latin typeface="Courier"/>
              </a:rPr>
              <a:t> files </a:t>
            </a:r>
            <a:r>
              <a:rPr>
                <a:solidFill>
                  <a:srgbClr val="3DAEE9"/>
                </a:solidFill>
                <a:latin typeface="Courier"/>
              </a:rPr>
              <a:t>%&gt;%</a:t>
            </a:r>
            <a:br/>
            <a:r>
              <a:rPr>
                <a:solidFill>
                  <a:srgbClr val="CFCFC2"/>
                </a:solidFill>
                <a:latin typeface="Courier"/>
              </a:rPr>
              <a:t>  </a:t>
            </a:r>
            <a:r>
              <a:rPr>
                <a:solidFill>
                  <a:srgbClr val="8E44AD"/>
                </a:solidFill>
                <a:latin typeface="Courier"/>
              </a:rPr>
              <a:t>set_names</a:t>
            </a:r>
            <a:r>
              <a:rPr>
                <a:solidFill>
                  <a:srgbClr val="CFCFC2"/>
                </a:solidFill>
                <a:latin typeface="Courier"/>
              </a:rPr>
              <a:t>(basename) </a:t>
            </a:r>
            <a:r>
              <a:rPr>
                <a:solidFill>
                  <a:srgbClr val="3DAEE9"/>
                </a:solidFill>
                <a:latin typeface="Courier"/>
              </a:rPr>
              <a:t>%&gt;%</a:t>
            </a:r>
            <a:r>
              <a:rPr>
                <a:solidFill>
                  <a:srgbClr val="CFCFC2"/>
                </a:solidFill>
                <a:latin typeface="Courier"/>
              </a:rPr>
              <a:t>                              </a:t>
            </a:r>
            <a:r>
              <a:rPr>
                <a:solidFill>
                  <a:srgbClr val="7A7C7D"/>
                </a:solidFill>
                <a:latin typeface="Courier"/>
              </a:rPr>
              <a:t># keep file names</a:t>
            </a:r>
            <a:br/>
            <a:r>
              <a:rPr>
                <a:solidFill>
                  <a:srgbClr val="CFCFC2"/>
                </a:solidFill>
                <a:latin typeface="Courier"/>
              </a:rPr>
              <a:t>  </a:t>
            </a:r>
            <a:r>
              <a:rPr>
                <a:solidFill>
                  <a:srgbClr val="8E44AD"/>
                </a:solidFill>
                <a:latin typeface="Courier"/>
              </a:rPr>
              <a:t>map_dfr</a:t>
            </a:r>
            <a:r>
              <a:rPr>
                <a:solidFill>
                  <a:srgbClr val="CFCFC2"/>
                </a:solidFill>
                <a:latin typeface="Courier"/>
              </a:rPr>
              <a:t>(</a:t>
            </a:r>
            <a:r>
              <a:rPr>
                <a:solidFill>
                  <a:srgbClr val="3DAEE9"/>
                </a:solidFill>
                <a:latin typeface="Courier"/>
              </a:rPr>
              <a:t>~</a:t>
            </a:r>
            <a:r>
              <a:rPr>
                <a:solidFill>
                  <a:srgbClr val="CFCFC2"/>
                </a:solidFill>
                <a:latin typeface="Courier"/>
              </a:rPr>
              <a:t> </a:t>
            </a:r>
            <a:r>
              <a:rPr>
                <a:solidFill>
                  <a:srgbClr val="8E44AD"/>
                </a:solidFill>
                <a:latin typeface="Courier"/>
              </a:rPr>
              <a:t>suppressWarnings</a:t>
            </a:r>
            <a:r>
              <a:rPr>
                <a:solidFill>
                  <a:srgbClr val="CFCFC2"/>
                </a:solidFill>
                <a:latin typeface="Courier"/>
              </a:rPr>
              <a:t>(</a:t>
            </a:r>
            <a:r>
              <a:rPr>
                <a:solidFill>
                  <a:srgbClr val="8E44AD"/>
                </a:solidFill>
                <a:latin typeface="Courier"/>
              </a:rPr>
              <a:t>suppressMessages</a:t>
            </a:r>
            <a:r>
              <a:rPr>
                <a:solidFill>
                  <a:srgbClr val="CFCFC2"/>
                </a:solidFill>
                <a:latin typeface="Courier"/>
              </a:rPr>
              <a:t>(</a:t>
            </a:r>
            <a:r>
              <a:rPr>
                <a:solidFill>
                  <a:srgbClr val="8E44AD"/>
                </a:solidFill>
                <a:latin typeface="Courier"/>
              </a:rPr>
              <a:t>head</a:t>
            </a:r>
            <a:r>
              <a:rPr>
                <a:solidFill>
                  <a:srgbClr val="CFCFC2"/>
                </a:solidFill>
                <a:latin typeface="Courier"/>
              </a:rPr>
              <a:t>(</a:t>
            </a:r>
            <a:r>
              <a:rPr>
                <a:solidFill>
                  <a:srgbClr val="8E44AD"/>
                </a:solidFill>
                <a:latin typeface="Courier"/>
              </a:rPr>
              <a:t>read_csv</a:t>
            </a:r>
            <a:r>
              <a:rPr>
                <a:solidFill>
                  <a:srgbClr val="CFCFC2"/>
                </a:solidFill>
                <a:latin typeface="Courier"/>
              </a:rPr>
              <a:t>(.x), </a:t>
            </a:r>
            <a:r>
              <a:rPr>
                <a:solidFill>
                  <a:srgbClr val="F67400"/>
                </a:solidFill>
                <a:latin typeface="Courier"/>
              </a:rPr>
              <a:t>1</a:t>
            </a:r>
            <a:r>
              <a:rPr>
                <a:solidFill>
                  <a:srgbClr val="CFCFC2"/>
                </a:solidFill>
                <a:latin typeface="Courier"/>
              </a:rPr>
              <a:t>))), </a:t>
            </a:r>
            <a:r>
              <a:rPr>
                <a:solidFill>
                  <a:srgbClr val="2980B9"/>
                </a:solidFill>
                <a:latin typeface="Courier"/>
              </a:rPr>
              <a:t>.id =</a:t>
            </a:r>
            <a:r>
              <a:rPr>
                <a:solidFill>
                  <a:srgbClr val="CFCFC2"/>
                </a:solidFill>
                <a:latin typeface="Courier"/>
              </a:rPr>
              <a:t> </a:t>
            </a:r>
            <a:r>
              <a:rPr>
                <a:solidFill>
                  <a:srgbClr val="F44F4F"/>
                </a:solidFill>
                <a:latin typeface="Courier"/>
              </a:rPr>
              <a:t>"source"</a:t>
            </a:r>
            <a:r>
              <a:rPr>
                <a:solidFill>
                  <a:srgbClr val="CFCFC2"/>
                </a:solidFill>
                <a:latin typeface="Courier"/>
              </a:rPr>
              <a:t>)            </a:t>
            </a:r>
            <a:r>
              <a:rPr>
                <a:solidFill>
                  <a:srgbClr val="7A7C7D"/>
                </a:solidFill>
                <a:latin typeface="Courier"/>
              </a:rPr>
              <a:t># combine into one tibble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Think-pair-share</a:t>
            </a:r>
          </a:p>
        </p:txBody>
      </p:sp>
      <p:sp>
        <p:nvSpPr>
          <p:cNvPr id="3" name="Content Placeholder 2"/>
          <p:cNvSpPr>
            <a:spLocks noGrp="1"/>
          </p:cNvSpPr>
          <p:nvPr>
            <p:ph idx="1"/>
          </p:nvPr>
        </p:nvSpPr>
        <p:spPr/>
        <p:txBody>
          <a:bodyPr/>
          <a:lstStyle/>
          <a:p>
            <a:pPr lvl="0"/>
            <a:r>
              <a:rPr/>
              <a:t>So how would we go about importing the </a:t>
            </a:r>
            <a:r>
              <a:rPr>
                <a:latin typeface="Courier"/>
              </a:rPr>
              <a:t>health-data.csv</a:t>
            </a:r>
            <a:r>
              <a:rPr/>
              <a:t> file that I had your instructor share with the class? What </a:t>
            </a:r>
            <a:r>
              <a:rPr>
                <a:latin typeface="Courier"/>
              </a:rPr>
              <a:t>R</a:t>
            </a:r>
            <a:r>
              <a:rPr/>
              <a:t> command should we use?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Glimpse and multiple files</a:t>
            </a:r>
          </a:p>
        </p:txBody>
      </p:sp>
      <p:sp>
        <p:nvSpPr>
          <p:cNvPr id="3" name="Content Placeholder 2"/>
          <p:cNvSpPr>
            <a:spLocks noGrp="1"/>
          </p:cNvSpPr>
          <p:nvPr>
            <p:ph idx="1"/>
          </p:nvPr>
        </p:nvSpPr>
        <p:spPr/>
        <p:txBody>
          <a:bodyPr/>
          <a:lstStyle/>
          <a:p>
            <a:pPr lvl="0" indent="0">
              <a:buNone/>
            </a:pPr>
            <a:r>
              <a:rPr>
                <a:solidFill>
                  <a:srgbClr val="CFCFC2"/>
                </a:solidFill>
                <a:latin typeface="Courier"/>
              </a:rPr>
              <a:t>all_data </a:t>
            </a:r>
            <a:r>
              <a:rPr>
                <a:solidFill>
                  <a:srgbClr val="3DAEE9"/>
                </a:solidFill>
                <a:latin typeface="Courier"/>
              </a:rPr>
              <a:t>%&gt;%</a:t>
            </a:r>
            <a:br/>
            <a:r>
              <a:rPr>
                <a:solidFill>
                  <a:srgbClr val="CFCFC2"/>
                </a:solidFill>
                <a:latin typeface="Courier"/>
              </a:rPr>
              <a:t>  </a:t>
            </a:r>
            <a:r>
              <a:rPr>
                <a:solidFill>
                  <a:srgbClr val="8E44AD"/>
                </a:solidFill>
                <a:latin typeface="Courier"/>
              </a:rPr>
              <a:t>select</a:t>
            </a:r>
            <a:r>
              <a:rPr>
                <a:solidFill>
                  <a:srgbClr val="CFCFC2"/>
                </a:solidFill>
                <a:latin typeface="Courier"/>
              </a:rPr>
              <a:t>(</a:t>
            </a:r>
            <a:r>
              <a:rPr>
                <a:solidFill>
                  <a:srgbClr val="F67400"/>
                </a:solidFill>
                <a:latin typeface="Courier"/>
              </a:rPr>
              <a:t>1</a:t>
            </a:r>
            <a:r>
              <a:rPr>
                <a:solidFill>
                  <a:srgbClr val="3DAEE9"/>
                </a:solidFill>
                <a:latin typeface="Courier"/>
              </a:rPr>
              <a:t>:</a:t>
            </a:r>
            <a:r>
              <a:rPr>
                <a:solidFill>
                  <a:srgbClr val="F67400"/>
                </a:solidFill>
                <a:latin typeface="Courier"/>
              </a:rPr>
              <a:t>5</a:t>
            </a:r>
            <a:r>
              <a:rPr>
                <a:solidFill>
                  <a:srgbClr val="CFCFC2"/>
                </a:solidFill>
                <a:latin typeface="Courier"/>
              </a:rPr>
              <a:t>) </a:t>
            </a:r>
            <a:r>
              <a:rPr>
                <a:solidFill>
                  <a:srgbClr val="3DAEE9"/>
                </a:solidFill>
                <a:latin typeface="Courier"/>
              </a:rPr>
              <a:t>%&gt;%</a:t>
            </a:r>
            <a:r>
              <a:rPr>
                <a:solidFill>
                  <a:srgbClr val="CFCFC2"/>
                </a:solidFill>
                <a:latin typeface="Courier"/>
              </a:rPr>
              <a:t>    </a:t>
            </a:r>
            <a:r>
              <a:rPr>
                <a:solidFill>
                  <a:srgbClr val="7A7C7D"/>
                </a:solidFill>
                <a:latin typeface="Courier"/>
              </a:rPr>
              <a:t># only the first 5 columns</a:t>
            </a:r>
            <a:br/>
            <a:r>
              <a:rPr>
                <a:solidFill>
                  <a:srgbClr val="CFCFC2"/>
                </a:solidFill>
                <a:latin typeface="Courier"/>
              </a:rPr>
              <a:t>  </a:t>
            </a:r>
            <a:r>
              <a:rPr>
                <a:solidFill>
                  <a:srgbClr val="8E44AD"/>
                </a:solidFill>
                <a:latin typeface="Courier"/>
              </a:rPr>
              <a:t>head</a:t>
            </a:r>
            <a:r>
              <a:rPr>
                <a:solidFill>
                  <a:srgbClr val="CFCFC2"/>
                </a:solidFill>
                <a:latin typeface="Courier"/>
              </a:rPr>
              <a:t>(</a:t>
            </a:r>
            <a:r>
              <a:rPr>
                <a:solidFill>
                  <a:srgbClr val="F67400"/>
                </a:solidFill>
                <a:latin typeface="Courier"/>
              </a:rPr>
              <a:t>3</a:t>
            </a:r>
            <a:r>
              <a:rPr>
                <a:solidFill>
                  <a:srgbClr val="CFCFC2"/>
                </a:solidFill>
                <a:latin typeface="Courier"/>
              </a:rPr>
              <a:t>) </a:t>
            </a:r>
            <a:r>
              <a:rPr>
                <a:solidFill>
                  <a:srgbClr val="3DAEE9"/>
                </a:solidFill>
                <a:latin typeface="Courier"/>
              </a:rPr>
              <a:t>%&gt;%</a:t>
            </a:r>
            <a:r>
              <a:rPr>
                <a:solidFill>
                  <a:srgbClr val="CFCFC2"/>
                </a:solidFill>
                <a:latin typeface="Courier"/>
              </a:rPr>
              <a:t>        </a:t>
            </a:r>
            <a:r>
              <a:rPr>
                <a:solidFill>
                  <a:srgbClr val="7A7C7D"/>
                </a:solidFill>
                <a:latin typeface="Courier"/>
              </a:rPr>
              <a:t># only the first 3 rows</a:t>
            </a:r>
            <a:br/>
            <a:r>
              <a:rPr>
                <a:solidFill>
                  <a:srgbClr val="CFCFC2"/>
                </a:solidFill>
                <a:latin typeface="Courier"/>
              </a:rPr>
              <a:t>  </a:t>
            </a:r>
            <a:r>
              <a:rPr>
                <a:solidFill>
                  <a:srgbClr val="8E44AD"/>
                </a:solidFill>
                <a:latin typeface="Courier"/>
              </a:rPr>
              <a:t>glimpse</a:t>
            </a:r>
            <a:r>
              <a:rPr>
                <a:solidFill>
                  <a:srgbClr val="CFCFC2"/>
                </a:solidFill>
                <a:latin typeface="Courier"/>
              </a:rPr>
              <a:t>()</a:t>
            </a:r>
          </a:p>
          <a:p>
            <a:pPr lvl="0" indent="0">
              <a:buNone/>
            </a:pPr>
            <a:r>
              <a:rPr>
                <a:latin typeface="Courier"/>
              </a:rPr>
              <a:t>## Rows: 3
## Columns: 5
## $ source    &lt;chr&gt; "gapminder.csv", "gapminder_nas.csv", "health_data.csv"
## $ country   &lt;chr&gt; "Afghanistan", "Afghanistan", NA
## $ continent &lt;chr&gt; "Asia", "Asia", NA
## $ year      &lt;dbl&gt; 1952, 1952, NA
## $ lifeExp   &lt;dbl&gt; 28.801, NA, NA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After importing</a:t>
            </a:r>
          </a:p>
        </p:txBody>
      </p:sp>
      <p:sp>
        <p:nvSpPr>
          <p:cNvPr id="3" name="Content Placeholder 2"/>
          <p:cNvSpPr>
            <a:spLocks noGrp="1"/>
          </p:cNvSpPr>
          <p:nvPr>
            <p:ph idx="1"/>
          </p:nvPr>
        </p:nvSpPr>
        <p:spPr/>
        <p:txBody>
          <a:bodyPr/>
          <a:lstStyle/>
          <a:p>
            <a:pPr lvl="0"/>
            <a:r>
              <a:rPr/>
              <a:t>Now that we’ve imported data here are some common functions used to get oriented with a new dataset.</a:t>
            </a:r>
          </a:p>
          <a:p>
            <a:pPr lvl="0" indent="0">
              <a:buNone/>
            </a:pPr>
            <a:r>
              <a:rPr>
                <a:solidFill>
                  <a:srgbClr val="CFCFC2"/>
                </a:solidFill>
                <a:latin typeface="Courier"/>
              </a:rPr>
              <a:t>health_df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F44F4F"/>
                </a:solidFill>
                <a:latin typeface="Courier"/>
              </a:rPr>
              <a:t>"../../data/health_data.csv"</a:t>
            </a:r>
            <a:r>
              <a:rPr>
                <a:solidFill>
                  <a:srgbClr val="CFCFC2"/>
                </a:solidFill>
                <a:latin typeface="Courier"/>
              </a:rPr>
              <a:t>) </a:t>
            </a:r>
            <a:br/>
            <a:r>
              <a:rPr>
                <a:solidFill>
                  <a:srgbClr val="8E44AD"/>
                </a:solidFill>
                <a:latin typeface="Courier"/>
              </a:rPr>
              <a:t>str</a:t>
            </a:r>
            <a:r>
              <a:rPr>
                <a:solidFill>
                  <a:srgbClr val="CFCFC2"/>
                </a:solidFill>
                <a:latin typeface="Courier"/>
              </a:rPr>
              <a:t>(health_df)</a:t>
            </a:r>
          </a:p>
          <a:p>
            <a:pPr lvl="0" indent="0">
              <a:buNone/>
            </a:pPr>
            <a:r>
              <a:rPr>
                <a:latin typeface="Courier"/>
              </a:rPr>
              <a:t>## 'data.frame':    40 obs. of  12 variables:
##  $ id         : int  1 2 3 4 5 6 7 8 9 10 ...
##  $ group      : chr  "Control" "Control" "Control" "Control" ...
##  $ gender     : chr  "Female" "Male" "Female" "Male" ...
##  $ age        : int  28 24 14 29 37 40 40 39 34 25 ...
##  $ smoker     : chr  "No" "No" "No" "Yes" ...
##  $ weight_pre : num  78.3 73.9 62.6 72.7 93.3 93 77.5 91.5 88 73.5 ...
##  $ weight_post: num  78.4 72 62 71.7 92.6 93.2 75.4 90.1 88.1 71.4 ...
##  $ bmi_pre    : num  26.2 24.5 21.8 24.1 24.6 25.1 30.7 27.3 21.6 21.9 ...
##  $ bmi_post   : num  26.3 23.4 21.1 23.1 25.6 25 31.4 25.9 22 22.1 ...
##  $ vo2max_pre : num  46.4 42.5 32.6 43.3 30 42.4 44 38.5 37.3 44.1 ...
##  $ vo2max_post: num  45.4 42.4 37.3 43.3 31.2 44.1 44.9 39.5 36.4 43.4 ...
##  $ improved   : chr  "False" "False" "True" "True"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in a name?</a:t>
            </a:r>
          </a:p>
        </p:txBody>
      </p:sp>
      <p:sp>
        <p:nvSpPr>
          <p:cNvPr id="3" name="Content Placeholder 2"/>
          <p:cNvSpPr>
            <a:spLocks noGrp="1"/>
          </p:cNvSpPr>
          <p:nvPr>
            <p:ph idx="1"/>
          </p:nvPr>
        </p:nvSpPr>
        <p:spPr/>
        <p:txBody>
          <a:bodyPr/>
          <a:lstStyle/>
          <a:p>
            <a:pPr lvl="0" indent="0">
              <a:buNone/>
            </a:pPr>
            <a:r>
              <a:rPr>
                <a:solidFill>
                  <a:srgbClr val="CFCFC2"/>
                </a:solidFill>
                <a:latin typeface="Courier"/>
              </a:rPr>
              <a:t>health_df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F44F4F"/>
                </a:solidFill>
                <a:latin typeface="Courier"/>
              </a:rPr>
              <a:t>"../../data/health_data.csv"</a:t>
            </a:r>
            <a:r>
              <a:rPr>
                <a:solidFill>
                  <a:srgbClr val="CFCFC2"/>
                </a:solidFill>
                <a:latin typeface="Courier"/>
              </a:rPr>
              <a:t>)</a:t>
            </a:r>
            <a:br/>
            <a:r>
              <a:rPr>
                <a:solidFill>
                  <a:srgbClr val="8E44AD"/>
                </a:solidFill>
                <a:latin typeface="Courier"/>
              </a:rPr>
              <a:t>names</a:t>
            </a:r>
            <a:r>
              <a:rPr>
                <a:solidFill>
                  <a:srgbClr val="CFCFC2"/>
                </a:solidFill>
                <a:latin typeface="Courier"/>
              </a:rPr>
              <a:t>(health_df)</a:t>
            </a:r>
          </a:p>
          <a:p>
            <a:pPr lvl="0" indent="0">
              <a:buNone/>
            </a:pPr>
            <a:r>
              <a:rPr>
                <a:latin typeface="Courier"/>
              </a:rPr>
              <a:t>##  [1] "id"          "group"       "gender"      "age"         "smoker"     
##  [6] "weight_pre"  "weight_post" "bmi_pre"     "bmi_post"    "vo2max_pre" 
## [11] "vo2max_post" "improved"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Long-format data</a:t>
            </a:r>
          </a:p>
        </p:txBody>
      </p:sp>
      <p:sp>
        <p:nvSpPr>
          <p:cNvPr id="3" name="Content Placeholder 2"/>
          <p:cNvSpPr>
            <a:spLocks noGrp="1"/>
          </p:cNvSpPr>
          <p:nvPr>
            <p:ph idx="1"/>
          </p:nvPr>
        </p:nvSpPr>
        <p:spPr/>
        <p:txBody>
          <a:bodyPr/>
          <a:lstStyle/>
          <a:p>
            <a:pPr lvl="0"/>
            <a:r>
              <a:rPr i="1"/>
              <a:t>Note that</a:t>
            </a:r>
            <a:r>
              <a:rPr/>
              <a:t> people will often use the terms </a:t>
            </a:r>
            <a:r>
              <a:rPr b="1"/>
              <a:t>wide</a:t>
            </a:r>
            <a:r>
              <a:rPr/>
              <a:t>, </a:t>
            </a:r>
            <a:r>
              <a:rPr b="1"/>
              <a:t>long</a:t>
            </a:r>
            <a:r>
              <a:rPr/>
              <a:t>, </a:t>
            </a:r>
            <a:r>
              <a:rPr b="1"/>
              <a:t>wide format</a:t>
            </a:r>
            <a:r>
              <a:rPr/>
              <a:t> or </a:t>
            </a:r>
            <a:r>
              <a:rPr b="1"/>
              <a:t>long format</a:t>
            </a:r>
            <a:r>
              <a:rPr/>
              <a:t> to describe their dataframes or </a:t>
            </a:r>
            <a:r>
              <a:rPr>
                <a:latin typeface="Courier"/>
              </a:rPr>
              <a:t>data.tables</a:t>
            </a:r>
            <a:r>
              <a:rPr/>
              <a:t> once they have been read in. This is simply a description of the orientation of the data frame.</a:t>
            </a:r>
          </a:p>
          <a:p>
            <a:pPr lvl="0" indent="0">
              <a:buNone/>
            </a:pPr>
            <a:r>
              <a:rPr>
                <a:solidFill>
                  <a:srgbClr val="CFCFC2"/>
                </a:solidFill>
                <a:latin typeface="Courier"/>
              </a:rPr>
              <a:t>gap_df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F44F4F"/>
                </a:solidFill>
                <a:latin typeface="Courier"/>
              </a:rPr>
              <a:t>"../../data/gapminder.csv"</a:t>
            </a:r>
            <a:r>
              <a:rPr>
                <a:solidFill>
                  <a:srgbClr val="CFCFC2"/>
                </a:solidFill>
                <a:latin typeface="Courier"/>
              </a:rPr>
              <a:t>)</a:t>
            </a:r>
            <a:br/>
            <a:r>
              <a:rPr>
                <a:solidFill>
                  <a:srgbClr val="CFCFC2"/>
                </a:solidFill>
                <a:latin typeface="Courier"/>
              </a:rPr>
              <a:t>gap_df </a:t>
            </a:r>
            <a:r>
              <a:rPr>
                <a:solidFill>
                  <a:srgbClr val="3DAEE9"/>
                </a:solidFill>
                <a:latin typeface="Courier"/>
              </a:rPr>
              <a:t>%&gt;%</a:t>
            </a:r>
            <a:r>
              <a:rPr>
                <a:solidFill>
                  <a:srgbClr val="CFCFC2"/>
                </a:solidFill>
                <a:latin typeface="Courier"/>
              </a:rPr>
              <a:t> </a:t>
            </a:r>
            <a:r>
              <a:rPr>
                <a:solidFill>
                  <a:srgbClr val="8E44AD"/>
                </a:solidFill>
                <a:latin typeface="Courier"/>
              </a:rPr>
              <a:t>head</a:t>
            </a:r>
            <a:r>
              <a:rPr>
                <a:solidFill>
                  <a:srgbClr val="CFCFC2"/>
                </a:solidFill>
                <a:latin typeface="Courier"/>
              </a:rPr>
              <a:t>(</a:t>
            </a:r>
            <a:r>
              <a:rPr>
                <a:solidFill>
                  <a:srgbClr val="F67400"/>
                </a:solidFill>
                <a:latin typeface="Courier"/>
              </a:rPr>
              <a:t>2</a:t>
            </a:r>
            <a:r>
              <a:rPr>
                <a:solidFill>
                  <a:srgbClr val="CFCFC2"/>
                </a:solidFill>
                <a:latin typeface="Courier"/>
              </a:rPr>
              <a:t>)</a:t>
            </a:r>
          </a:p>
          <a:p>
            <a:pPr lvl="0" indent="0">
              <a:buNone/>
            </a:pPr>
            <a:r>
              <a:rPr>
                <a:latin typeface="Courier"/>
              </a:rPr>
              <a:t>##       country continent year lifeExp     pop gdpPercap
## 1 Afghanistan      Asia 1952  28.801 8425333  779.4453
## 2 Afghanistan      Asia 1957  30.332 9240934  820.8530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Wide-format data</a:t>
            </a:r>
          </a:p>
        </p:txBody>
      </p:sp>
      <p:sp>
        <p:nvSpPr>
          <p:cNvPr id="3" name="Content Placeholder 2"/>
          <p:cNvSpPr>
            <a:spLocks noGrp="1"/>
          </p:cNvSpPr>
          <p:nvPr>
            <p:ph idx="1"/>
          </p:nvPr>
        </p:nvSpPr>
        <p:spPr/>
        <p:txBody>
          <a:bodyPr/>
          <a:lstStyle/>
          <a:p>
            <a:pPr lvl="0" indent="0">
              <a:buNone/>
            </a:pPr>
            <a:r>
              <a:rPr>
                <a:solidFill>
                  <a:srgbClr val="CFCFC2"/>
                </a:solidFill>
                <a:latin typeface="Courier"/>
              </a:rPr>
              <a:t>gap_df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F44F4F"/>
                </a:solidFill>
                <a:latin typeface="Courier"/>
              </a:rPr>
              <a:t>"../../data/gapminder.csv"</a:t>
            </a:r>
            <a:r>
              <a:rPr>
                <a:solidFill>
                  <a:srgbClr val="CFCFC2"/>
                </a:solidFill>
                <a:latin typeface="Courier"/>
              </a:rPr>
              <a:t>)</a:t>
            </a:r>
            <a:br/>
            <a:r>
              <a:rPr>
                <a:solidFill>
                  <a:srgbClr val="CFCFC2"/>
                </a:solidFill>
                <a:latin typeface="Courier"/>
              </a:rPr>
              <a:t>gap_df </a:t>
            </a:r>
            <a:r>
              <a:rPr>
                <a:solidFill>
                  <a:srgbClr val="3DAEE9"/>
                </a:solidFill>
                <a:latin typeface="Courier"/>
              </a:rPr>
              <a:t>%&gt;%</a:t>
            </a:r>
            <a:r>
              <a:rPr>
                <a:solidFill>
                  <a:srgbClr val="CFCFC2"/>
                </a:solidFill>
                <a:latin typeface="Courier"/>
              </a:rPr>
              <a:t> </a:t>
            </a:r>
            <a:r>
              <a:rPr>
                <a:solidFill>
                  <a:srgbClr val="8E44AD"/>
                </a:solidFill>
                <a:latin typeface="Courier"/>
              </a:rPr>
              <a:t>pivot_wider</a:t>
            </a:r>
            <a:r>
              <a:rPr>
                <a:solidFill>
                  <a:srgbClr val="CFCFC2"/>
                </a:solidFill>
                <a:latin typeface="Courier"/>
              </a:rPr>
              <a:t>(</a:t>
            </a:r>
            <a:r>
              <a:rPr>
                <a:solidFill>
                  <a:srgbClr val="2980B9"/>
                </a:solidFill>
                <a:latin typeface="Courier"/>
              </a:rPr>
              <a:t>names_from =</a:t>
            </a:r>
            <a:r>
              <a:rPr>
                <a:solidFill>
                  <a:srgbClr val="CFCFC2"/>
                </a:solidFill>
                <a:latin typeface="Courier"/>
              </a:rPr>
              <a:t> </a:t>
            </a:r>
            <a:r>
              <a:rPr>
                <a:solidFill>
                  <a:srgbClr val="8E44AD"/>
                </a:solidFill>
                <a:latin typeface="Courier"/>
              </a:rPr>
              <a:t>c</a:t>
            </a:r>
            <a:r>
              <a:rPr>
                <a:solidFill>
                  <a:srgbClr val="CFCFC2"/>
                </a:solidFill>
                <a:latin typeface="Courier"/>
              </a:rPr>
              <a:t>(year),</a:t>
            </a:r>
            <a:br/>
            <a:r>
              <a:rPr>
                <a:solidFill>
                  <a:srgbClr val="CFCFC2"/>
                </a:solidFill>
                <a:latin typeface="Courier"/>
              </a:rPr>
              <a:t>                       </a:t>
            </a:r>
            <a:r>
              <a:rPr>
                <a:solidFill>
                  <a:srgbClr val="2980B9"/>
                </a:solidFill>
                <a:latin typeface="Courier"/>
              </a:rPr>
              <a:t>values_from =</a:t>
            </a:r>
            <a:r>
              <a:rPr>
                <a:solidFill>
                  <a:srgbClr val="CFCFC2"/>
                </a:solidFill>
                <a:latin typeface="Courier"/>
              </a:rPr>
              <a:t> </a:t>
            </a:r>
            <a:r>
              <a:rPr>
                <a:solidFill>
                  <a:srgbClr val="8E44AD"/>
                </a:solidFill>
                <a:latin typeface="Courier"/>
              </a:rPr>
              <a:t>c</a:t>
            </a:r>
            <a:r>
              <a:rPr>
                <a:solidFill>
                  <a:srgbClr val="CFCFC2"/>
                </a:solidFill>
                <a:latin typeface="Courier"/>
              </a:rPr>
              <a:t>(lifeExp, pop, gdpPercap)) </a:t>
            </a:r>
            <a:r>
              <a:rPr>
                <a:solidFill>
                  <a:srgbClr val="3DAEE9"/>
                </a:solidFill>
                <a:latin typeface="Courier"/>
              </a:rPr>
              <a:t>%&gt;%</a:t>
            </a:r>
            <a:r>
              <a:rPr>
                <a:solidFill>
                  <a:srgbClr val="CFCFC2"/>
                </a:solidFill>
                <a:latin typeface="Courier"/>
              </a:rPr>
              <a:t> </a:t>
            </a:r>
            <a:r>
              <a:rPr>
                <a:solidFill>
                  <a:srgbClr val="8E44AD"/>
                </a:solidFill>
                <a:latin typeface="Courier"/>
              </a:rPr>
              <a:t>head</a:t>
            </a:r>
            <a:r>
              <a:rPr>
                <a:solidFill>
                  <a:srgbClr val="CFCFC2"/>
                </a:solidFill>
                <a:latin typeface="Courier"/>
              </a:rPr>
              <a:t>(</a:t>
            </a:r>
            <a:r>
              <a:rPr>
                <a:solidFill>
                  <a:srgbClr val="F67400"/>
                </a:solidFill>
                <a:latin typeface="Courier"/>
              </a:rPr>
              <a:t>2</a:t>
            </a:r>
            <a:r>
              <a:rPr>
                <a:solidFill>
                  <a:srgbClr val="CFCFC2"/>
                </a:solidFill>
                <a:latin typeface="Courier"/>
              </a:rPr>
              <a:t>) </a:t>
            </a:r>
            <a:r>
              <a:rPr>
                <a:solidFill>
                  <a:srgbClr val="3DAEE9"/>
                </a:solidFill>
                <a:latin typeface="Courier"/>
              </a:rPr>
              <a:t>%&gt;%</a:t>
            </a:r>
            <a:br/>
            <a:r>
              <a:rPr>
                <a:solidFill>
                  <a:srgbClr val="CFCFC2"/>
                </a:solidFill>
                <a:latin typeface="Courier"/>
              </a:rPr>
              <a:t>  </a:t>
            </a:r>
            <a:r>
              <a:rPr>
                <a:solidFill>
                  <a:srgbClr val="8E44AD"/>
                </a:solidFill>
                <a:latin typeface="Courier"/>
              </a:rPr>
              <a:t>select</a:t>
            </a:r>
            <a:r>
              <a:rPr>
                <a:solidFill>
                  <a:srgbClr val="CFCFC2"/>
                </a:solidFill>
                <a:latin typeface="Courier"/>
              </a:rPr>
              <a:t>(</a:t>
            </a:r>
            <a:r>
              <a:rPr>
                <a:solidFill>
                  <a:srgbClr val="F67400"/>
                </a:solidFill>
                <a:latin typeface="Courier"/>
              </a:rPr>
              <a:t>1</a:t>
            </a:r>
            <a:r>
              <a:rPr>
                <a:solidFill>
                  <a:srgbClr val="3DAEE9"/>
                </a:solidFill>
                <a:latin typeface="Courier"/>
              </a:rPr>
              <a:t>:</a:t>
            </a:r>
            <a:r>
              <a:rPr>
                <a:solidFill>
                  <a:srgbClr val="F67400"/>
                </a:solidFill>
                <a:latin typeface="Courier"/>
              </a:rPr>
              <a:t>5</a:t>
            </a:r>
            <a:r>
              <a:rPr>
                <a:solidFill>
                  <a:srgbClr val="CFCFC2"/>
                </a:solidFill>
                <a:latin typeface="Courier"/>
              </a:rPr>
              <a:t>)</a:t>
            </a:r>
          </a:p>
          <a:p>
            <a:pPr lvl="0" indent="0">
              <a:buNone/>
            </a:pPr>
            <a:r>
              <a:rPr>
                <a:latin typeface="Courier"/>
              </a:rPr>
              <a:t>## # A tibble: 2 × 5
##   country     continent lifeExp_1952 lifeExp_1957 lifeExp_1962
##   &lt;chr&gt;       &lt;chr&gt;            &lt;dbl&gt;        &lt;dbl&gt;        &lt;dbl&gt;
## 1 Afghanistan Asia              28.8         30.3         32.0
## 2 Albania     Europe            55.2         59.3         64.8</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Installing packages</a:t>
            </a:r>
          </a:p>
        </p:txBody>
      </p:sp>
      <p:sp>
        <p:nvSpPr>
          <p:cNvPr id="3" name="Content Placeholder 2"/>
          <p:cNvSpPr>
            <a:spLocks noGrp="1"/>
          </p:cNvSpPr>
          <p:nvPr>
            <p:ph idx="1"/>
          </p:nvPr>
        </p:nvSpPr>
        <p:spPr/>
        <p:txBody>
          <a:bodyPr/>
          <a:lstStyle/>
          <a:p>
            <a:pPr lvl="0" indent="0">
              <a:buNone/>
            </a:pPr>
            <a:r>
              <a:rPr>
                <a:solidFill>
                  <a:srgbClr val="7A7C7D"/>
                </a:solidFill>
                <a:latin typeface="Courier"/>
              </a:rPr>
              <a:t># install.packages("dplyr") # This call installs a package </a:t>
            </a:r>
            <a:br/>
            <a:r>
              <a:rPr>
                <a:solidFill>
                  <a:srgbClr val="7A7C7D"/>
                </a:solidFill>
                <a:latin typeface="Courier"/>
              </a:rPr>
              <a:t># library(dplyr) # This loads a package</a:t>
            </a:r>
            <a:br/>
            <a:r>
              <a:rPr>
                <a:solidFill>
                  <a:srgbClr val="7A7C7D"/>
                </a:solidFill>
                <a:latin typeface="Courier"/>
              </a:rPr>
              <a:t># devtools packages</a:t>
            </a:r>
            <a:br/>
            <a:r>
              <a:rPr>
                <a:solidFill>
                  <a:srgbClr val="7A7C7D"/>
                </a:solidFill>
                <a:latin typeface="Courier"/>
              </a:rPr>
              <a:t># install.packages("devtools")</a:t>
            </a:r>
            <a:br/>
            <a:r>
              <a:rPr>
                <a:solidFill>
                  <a:srgbClr val="7A7C7D"/>
                </a:solidFill>
                <a:latin typeface="Courier"/>
              </a:rPr>
              <a:t># install_github("username/repositoryname")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Reading in Data in Base R</a:t>
            </a:r>
          </a:p>
        </p:txBody>
      </p:sp>
      <p:sp>
        <p:nvSpPr>
          <p:cNvPr id="3" name="Content Placeholder 2"/>
          <p:cNvSpPr>
            <a:spLocks noGrp="1"/>
          </p:cNvSpPr>
          <p:nvPr>
            <p:ph idx="1"/>
          </p:nvPr>
        </p:nvSpPr>
        <p:spPr/>
        <p:txBody>
          <a:bodyPr/>
          <a:lstStyle/>
          <a:p>
            <a:pPr lvl="0" indent="0">
              <a:buNone/>
            </a:pPr>
            <a:r>
              <a:rPr>
                <a:solidFill>
                  <a:srgbClr val="CFCFC2"/>
                </a:solidFill>
                <a:latin typeface="Courier"/>
              </a:rPr>
              <a:t>badTable </a:t>
            </a:r>
            <a:r>
              <a:rPr>
                <a:solidFill>
                  <a:srgbClr val="27AE60"/>
                </a:solidFill>
                <a:latin typeface="Courier"/>
              </a:rPr>
              <a:t>&lt;-</a:t>
            </a:r>
            <a:r>
              <a:rPr>
                <a:solidFill>
                  <a:srgbClr val="CFCFC2"/>
                </a:solidFill>
                <a:latin typeface="Courier"/>
              </a:rPr>
              <a:t> </a:t>
            </a:r>
            <a:r>
              <a:rPr>
                <a:solidFill>
                  <a:srgbClr val="8E44AD"/>
                </a:solidFill>
                <a:latin typeface="Courier"/>
              </a:rPr>
              <a:t>read.table</a:t>
            </a:r>
            <a:r>
              <a:rPr>
                <a:solidFill>
                  <a:srgbClr val="CFCFC2"/>
                </a:solidFill>
                <a:latin typeface="Courier"/>
              </a:rPr>
              <a:t>(</a:t>
            </a:r>
            <a:r>
              <a:rPr>
                <a:solidFill>
                  <a:srgbClr val="F44F4F"/>
                </a:solidFill>
                <a:latin typeface="Courier"/>
              </a:rPr>
              <a:t>"../../data/health_data.csv"</a:t>
            </a:r>
            <a:r>
              <a:rPr>
                <a:solidFill>
                  <a:srgbClr val="CFCFC2"/>
                </a:solidFill>
                <a:latin typeface="Courier"/>
              </a:rPr>
              <a:t>) </a:t>
            </a:r>
            <a:r>
              <a:rPr>
                <a:solidFill>
                  <a:srgbClr val="7A7C7D"/>
                </a:solidFill>
                <a:latin typeface="Courier"/>
              </a:rPr>
              <a:t># this will be an ugly mess of strings--trust me</a:t>
            </a:r>
            <a:br/>
            <a:r>
              <a:rPr>
                <a:solidFill>
                  <a:srgbClr val="CFCFC2"/>
                </a:solidFill>
                <a:latin typeface="Courier"/>
              </a:rPr>
              <a:t>badTable[</a:t>
            </a:r>
            <a:r>
              <a:rPr>
                <a:solidFill>
                  <a:srgbClr val="F67400"/>
                </a:solidFill>
                <a:latin typeface="Courier"/>
              </a:rPr>
              <a:t>1</a:t>
            </a:r>
            <a:r>
              <a:rPr>
                <a:solidFill>
                  <a:srgbClr val="CFCFC2"/>
                </a:solidFill>
                <a:latin typeface="Courier"/>
              </a:rPr>
              <a:t>,]</a:t>
            </a:r>
          </a:p>
          <a:p>
            <a:pPr lvl="0" indent="0">
              <a:buNone/>
            </a:pPr>
            <a:r>
              <a:rPr>
                <a:latin typeface="Courier"/>
              </a:rPr>
              <a:t>## [1] "id,group,gender,age,smoker,weight_pre,weight_post,bmi_pre,bmi_post,vo2max_pre,vo2max_post,improved"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Reading in Data in Base R Cont’d</a:t>
            </a:r>
          </a:p>
        </p:txBody>
      </p:sp>
      <p:sp>
        <p:nvSpPr>
          <p:cNvPr id="3" name="Content Placeholder 2"/>
          <p:cNvSpPr>
            <a:spLocks noGrp="1"/>
          </p:cNvSpPr>
          <p:nvPr>
            <p:ph idx="1"/>
          </p:nvPr>
        </p:nvSpPr>
        <p:spPr/>
        <p:txBody>
          <a:bodyPr/>
          <a:lstStyle/>
          <a:p>
            <a:pPr lvl="0" indent="0">
              <a:buNone/>
            </a:pPr>
            <a:r>
              <a:rPr>
                <a:solidFill>
                  <a:srgbClr val="8E44AD"/>
                </a:solidFill>
                <a:latin typeface="Courier"/>
              </a:rPr>
              <a:t>head</a:t>
            </a:r>
            <a:r>
              <a:rPr>
                <a:solidFill>
                  <a:srgbClr val="CFCFC2"/>
                </a:solidFill>
                <a:latin typeface="Courier"/>
              </a:rPr>
              <a:t>(</a:t>
            </a:r>
            <a:r>
              <a:rPr>
                <a:solidFill>
                  <a:srgbClr val="8E44AD"/>
                </a:solidFill>
                <a:latin typeface="Courier"/>
              </a:rPr>
              <a:t>read.table</a:t>
            </a:r>
            <a:r>
              <a:rPr>
                <a:solidFill>
                  <a:srgbClr val="CFCFC2"/>
                </a:solidFill>
                <a:latin typeface="Courier"/>
              </a:rPr>
              <a:t>(</a:t>
            </a:r>
            <a:r>
              <a:rPr>
                <a:solidFill>
                  <a:srgbClr val="F44F4F"/>
                </a:solidFill>
                <a:latin typeface="Courier"/>
              </a:rPr>
              <a:t>"../../data/health_data.csv"</a:t>
            </a:r>
            <a:r>
              <a:rPr>
                <a:solidFill>
                  <a:srgbClr val="CFCFC2"/>
                </a:solidFill>
                <a:latin typeface="Courier"/>
              </a:rPr>
              <a:t>, </a:t>
            </a:r>
            <a:r>
              <a:rPr>
                <a:solidFill>
                  <a:srgbClr val="2980B9"/>
                </a:solidFill>
                <a:latin typeface="Courier"/>
              </a:rPr>
              <a:t>sep =</a:t>
            </a:r>
            <a:r>
              <a:rPr>
                <a:solidFill>
                  <a:srgbClr val="CFCFC2"/>
                </a:solidFill>
                <a:latin typeface="Courier"/>
              </a:rPr>
              <a:t> </a:t>
            </a:r>
            <a:r>
              <a:rPr>
                <a:solidFill>
                  <a:srgbClr val="F44F4F"/>
                </a:solidFill>
                <a:latin typeface="Courier"/>
              </a:rPr>
              <a:t>","</a:t>
            </a:r>
            <a:r>
              <a:rPr>
                <a:solidFill>
                  <a:srgbClr val="CFCFC2"/>
                </a:solidFill>
                <a:latin typeface="Courier"/>
              </a:rPr>
              <a:t>, </a:t>
            </a:r>
            <a:r>
              <a:rPr>
                <a:solidFill>
                  <a:srgbClr val="2980B9"/>
                </a:solidFill>
                <a:latin typeface="Courier"/>
              </a:rPr>
              <a:t>header=</a:t>
            </a:r>
            <a:r>
              <a:rPr b="1">
                <a:solidFill>
                  <a:srgbClr val="27AEAE"/>
                </a:solidFill>
                <a:latin typeface="Courier"/>
              </a:rPr>
              <a:t>TRUE</a:t>
            </a:r>
            <a:r>
              <a:rPr>
                <a:solidFill>
                  <a:srgbClr val="CFCFC2"/>
                </a:solidFill>
                <a:latin typeface="Courier"/>
              </a:rPr>
              <a:t>))</a:t>
            </a:r>
          </a:p>
          <a:p>
            <a:pPr lvl="0" indent="0">
              <a:buNone/>
            </a:pPr>
            <a:r>
              <a:rPr>
                <a:latin typeface="Courier"/>
              </a:rPr>
              <a:t>##   id   group gender age smoker weight_pre weight_post bmi_pre bmi_post
## 1  1 Control Female  28     No       78.3        78.4    26.2     26.3
## 2  2 Control   Male  24     No       73.9        72.0    24.5     23.4
## 3  3 Control Female  14     No       62.6        62.0    21.8     21.1
## 4  4 Control   Male  29    Yes       72.7        71.7    24.1     23.1
## 5  5 Control Female  37     No       93.3        92.6    24.6     25.6
## 6  6 Control   Male  40    Yes       93.0        93.2    25.1     25.0
##   vo2max_pre vo2max_post improved
## 1       46.4        45.4    False
## 2       42.5        42.4    False
## 3       32.6        37.3     True
## 4       43.3        43.3     True
## 5       30.0        31.2     True
## 6       42.4        44.1     True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quick note on </a:t>
            </a:r>
            <a:r>
              <a:rPr>
                <a:latin typeface="Courier"/>
              </a:rPr>
              <a:t>read_excel</a:t>
            </a:r>
            <a:r>
              <a:rPr/>
              <a:t> from the </a:t>
            </a:r>
            <a:r>
              <a:rPr>
                <a:latin typeface="Courier"/>
              </a:rPr>
              <a:t>Tidyverse</a:t>
            </a:r>
          </a:p>
        </p:txBody>
      </p:sp>
      <p:sp>
        <p:nvSpPr>
          <p:cNvPr id="3" name="Content Placeholder 2"/>
          <p:cNvSpPr>
            <a:spLocks noGrp="1"/>
          </p:cNvSpPr>
          <p:nvPr>
            <p:ph idx="1"/>
          </p:nvPr>
        </p:nvSpPr>
        <p:spPr/>
        <p:txBody>
          <a:bodyPr/>
          <a:lstStyle/>
          <a:p>
            <a:pPr lvl="0" indent="0">
              <a:buNone/>
            </a:pPr>
            <a:r>
              <a:rPr>
                <a:solidFill>
                  <a:srgbClr val="8E44AD"/>
                </a:solidFill>
                <a:latin typeface="Courier"/>
              </a:rPr>
              <a:t>suppressWarnings</a:t>
            </a:r>
            <a:r>
              <a:rPr>
                <a:solidFill>
                  <a:srgbClr val="CFCFC2"/>
                </a:solidFill>
                <a:latin typeface="Courier"/>
              </a:rPr>
              <a:t>(</a:t>
            </a:r>
            <a:r>
              <a:rPr>
                <a:solidFill>
                  <a:srgbClr val="8E44AD"/>
                </a:solidFill>
                <a:latin typeface="Courier"/>
              </a:rPr>
              <a:t>library</a:t>
            </a:r>
            <a:r>
              <a:rPr>
                <a:solidFill>
                  <a:srgbClr val="CFCFC2"/>
                </a:solidFill>
                <a:latin typeface="Courier"/>
              </a:rPr>
              <a:t>(readxl))</a:t>
            </a:r>
            <a:br/>
            <a:r>
              <a:rPr>
                <a:solidFill>
                  <a:srgbClr val="CFCFC2"/>
                </a:solidFill>
                <a:latin typeface="Courier"/>
              </a:rPr>
              <a:t>data_xls </a:t>
            </a:r>
            <a:r>
              <a:rPr>
                <a:solidFill>
                  <a:srgbClr val="27AE60"/>
                </a:solidFill>
                <a:latin typeface="Courier"/>
              </a:rPr>
              <a:t>&lt;-</a:t>
            </a:r>
            <a:r>
              <a:rPr>
                <a:solidFill>
                  <a:srgbClr val="CFCFC2"/>
                </a:solidFill>
                <a:latin typeface="Courier"/>
              </a:rPr>
              <a:t> </a:t>
            </a:r>
            <a:r>
              <a:rPr>
                <a:solidFill>
                  <a:srgbClr val="8E44AD"/>
                </a:solidFill>
                <a:latin typeface="Courier"/>
              </a:rPr>
              <a:t>suppressWarnings</a:t>
            </a:r>
            <a:r>
              <a:rPr>
                <a:solidFill>
                  <a:srgbClr val="CFCFC2"/>
                </a:solidFill>
                <a:latin typeface="Courier"/>
              </a:rPr>
              <a:t>(</a:t>
            </a:r>
            <a:r>
              <a:rPr>
                <a:solidFill>
                  <a:srgbClr val="8E44AD"/>
                </a:solidFill>
                <a:latin typeface="Courier"/>
              </a:rPr>
              <a:t>read_excel</a:t>
            </a:r>
            <a:r>
              <a:rPr>
                <a:solidFill>
                  <a:srgbClr val="CFCFC2"/>
                </a:solidFill>
                <a:latin typeface="Courier"/>
              </a:rPr>
              <a:t>(</a:t>
            </a:r>
            <a:r>
              <a:rPr>
                <a:solidFill>
                  <a:srgbClr val="F44F4F"/>
                </a:solidFill>
                <a:latin typeface="Courier"/>
              </a:rPr>
              <a:t>"../../data/gapminder.xlsx"</a:t>
            </a:r>
            <a:r>
              <a:rPr>
                <a:solidFill>
                  <a:srgbClr val="CFCFC2"/>
                </a:solidFill>
                <a:latin typeface="Courier"/>
              </a:rPr>
              <a:t>))</a:t>
            </a:r>
            <a:br/>
            <a:r>
              <a:rPr>
                <a:solidFill>
                  <a:srgbClr val="7A7C7D"/>
                </a:solidFill>
                <a:latin typeface="Courier"/>
              </a:rPr>
              <a:t># `read_excel` also supports reading in specific </a:t>
            </a:r>
            <a:br/>
            <a:r>
              <a:rPr>
                <a:solidFill>
                  <a:srgbClr val="CFCFC2"/>
                </a:solidFill>
                <a:latin typeface="Courier"/>
              </a:rPr>
              <a:t>data_xls </a:t>
            </a:r>
            <a:r>
              <a:rPr>
                <a:solidFill>
                  <a:srgbClr val="27AE60"/>
                </a:solidFill>
                <a:latin typeface="Courier"/>
              </a:rPr>
              <a:t>&lt;-</a:t>
            </a:r>
            <a:r>
              <a:rPr>
                <a:solidFill>
                  <a:srgbClr val="CFCFC2"/>
                </a:solidFill>
                <a:latin typeface="Courier"/>
              </a:rPr>
              <a:t> </a:t>
            </a:r>
            <a:r>
              <a:rPr>
                <a:solidFill>
                  <a:srgbClr val="8E44AD"/>
                </a:solidFill>
                <a:latin typeface="Courier"/>
              </a:rPr>
              <a:t>read_excel</a:t>
            </a:r>
            <a:r>
              <a:rPr>
                <a:solidFill>
                  <a:srgbClr val="CFCFC2"/>
                </a:solidFill>
                <a:latin typeface="Courier"/>
              </a:rPr>
              <a:t>(</a:t>
            </a:r>
            <a:r>
              <a:rPr>
                <a:solidFill>
                  <a:srgbClr val="F44F4F"/>
                </a:solidFill>
                <a:latin typeface="Courier"/>
              </a:rPr>
              <a:t>"../../data/gapminder.xlsx"</a:t>
            </a:r>
            <a:r>
              <a:rPr>
                <a:solidFill>
                  <a:srgbClr val="CFCFC2"/>
                </a:solidFill>
                <a:latin typeface="Courier"/>
              </a:rPr>
              <a:t>, </a:t>
            </a:r>
            <a:r>
              <a:rPr>
                <a:solidFill>
                  <a:srgbClr val="2980B9"/>
                </a:solidFill>
                <a:latin typeface="Courier"/>
              </a:rPr>
              <a:t>sheet =</a:t>
            </a:r>
            <a:r>
              <a:rPr>
                <a:solidFill>
                  <a:srgbClr val="CFCFC2"/>
                </a:solidFill>
                <a:latin typeface="Courier"/>
              </a:rPr>
              <a:t> </a:t>
            </a:r>
            <a:r>
              <a:rPr>
                <a:solidFill>
                  <a:srgbClr val="F44F4F"/>
                </a:solidFill>
                <a:latin typeface="Courier"/>
              </a:rPr>
              <a:t>'1952'</a:t>
            </a:r>
            <a:r>
              <a:rPr>
                <a:solidFill>
                  <a:srgbClr val="CFCFC2"/>
                </a:solidFill>
                <a:latin typeface="Courier"/>
              </a:rPr>
              <a:t>, </a:t>
            </a:r>
            <a:r>
              <a:rPr>
                <a:solidFill>
                  <a:srgbClr val="2980B9"/>
                </a:solidFill>
                <a:latin typeface="Courier"/>
              </a:rPr>
              <a:t>range =</a:t>
            </a:r>
            <a:r>
              <a:rPr>
                <a:solidFill>
                  <a:srgbClr val="CFCFC2"/>
                </a:solidFill>
                <a:latin typeface="Courier"/>
              </a:rPr>
              <a:t> </a:t>
            </a:r>
            <a:r>
              <a:rPr>
                <a:solidFill>
                  <a:srgbClr val="F44F4F"/>
                </a:solidFill>
                <a:latin typeface="Courier"/>
              </a:rPr>
              <a:t>"A1:D5"</a:t>
            </a:r>
            <a:r>
              <a:rPr>
                <a:solidFill>
                  <a:srgbClr val="CFCFC2"/>
                </a:solidFill>
                <a:latin typeface="Courie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Missing and incomplete data</a:t>
            </a:r>
          </a:p>
        </p:txBody>
      </p:sp>
      <p:sp>
        <p:nvSpPr>
          <p:cNvPr id="3" name="Content Placeholder 2"/>
          <p:cNvSpPr>
            <a:spLocks noGrp="1"/>
          </p:cNvSpPr>
          <p:nvPr>
            <p:ph idx="1"/>
          </p:nvPr>
        </p:nvSpPr>
        <p:spPr/>
        <p:txBody>
          <a:bodyPr/>
          <a:lstStyle/>
          <a:p>
            <a:pPr lvl="0" indent="0">
              <a:buNone/>
            </a:pPr>
            <a:r>
              <a:rPr>
                <a:solidFill>
                  <a:srgbClr val="7A7C7D"/>
                </a:solidFill>
                <a:latin typeface="Courier"/>
              </a:rPr>
              <a:t># a set of possible NA values</a:t>
            </a:r>
            <a:br/>
            <a:r>
              <a:rPr>
                <a:solidFill>
                  <a:srgbClr val="CFCFC2"/>
                </a:solidFill>
                <a:latin typeface="Courier"/>
              </a:rPr>
              <a:t>na_values </a:t>
            </a:r>
            <a:r>
              <a:rPr>
                <a:solidFill>
                  <a:srgbClr val="27AE60"/>
                </a:solidFill>
                <a:latin typeface="Courier"/>
              </a:rPr>
              <a:t>&lt;-</a:t>
            </a:r>
            <a:r>
              <a:rPr>
                <a:solidFill>
                  <a:srgbClr val="CFCFC2"/>
                </a:solidFill>
                <a:latin typeface="Courier"/>
              </a:rPr>
              <a:t> </a:t>
            </a:r>
            <a:r>
              <a:rPr>
                <a:solidFill>
                  <a:srgbClr val="8E44AD"/>
                </a:solidFill>
                <a:latin typeface="Courier"/>
              </a:rPr>
              <a:t>c</a:t>
            </a:r>
            <a:r>
              <a:rPr>
                <a:solidFill>
                  <a:srgbClr val="CFCFC2"/>
                </a:solidFill>
                <a:latin typeface="Courier"/>
              </a:rPr>
              <a:t>(</a:t>
            </a:r>
            <a:r>
              <a:rPr>
                <a:solidFill>
                  <a:srgbClr val="F44F4F"/>
                </a:solidFill>
                <a:latin typeface="Courier"/>
              </a:rPr>
              <a:t>"NULL"</a:t>
            </a:r>
            <a:r>
              <a:rPr>
                <a:solidFill>
                  <a:srgbClr val="CFCFC2"/>
                </a:solidFill>
                <a:latin typeface="Courier"/>
              </a:rPr>
              <a:t>, </a:t>
            </a:r>
            <a:r>
              <a:rPr>
                <a:solidFill>
                  <a:srgbClr val="F44F4F"/>
                </a:solidFill>
                <a:latin typeface="Courier"/>
              </a:rPr>
              <a:t>"NA"</a:t>
            </a:r>
            <a:r>
              <a:rPr>
                <a:solidFill>
                  <a:srgbClr val="CFCFC2"/>
                </a:solidFill>
                <a:latin typeface="Courier"/>
              </a:rPr>
              <a:t>, </a:t>
            </a:r>
            <a:r>
              <a:rPr>
                <a:solidFill>
                  <a:srgbClr val="F44F4F"/>
                </a:solidFill>
                <a:latin typeface="Courier"/>
              </a:rPr>
              <a:t>"N/A"</a:t>
            </a:r>
            <a:r>
              <a:rPr>
                <a:solidFill>
                  <a:srgbClr val="CFCFC2"/>
                </a:solidFill>
                <a:latin typeface="Courier"/>
              </a:rPr>
              <a:t>, </a:t>
            </a:r>
            <a:r>
              <a:rPr>
                <a:solidFill>
                  <a:srgbClr val="F44F4F"/>
                </a:solidFill>
                <a:latin typeface="Courier"/>
              </a:rPr>
              <a:t>"99"</a:t>
            </a:r>
            <a:r>
              <a:rPr>
                <a:solidFill>
                  <a:srgbClr val="CFCFC2"/>
                </a:solidFill>
                <a:latin typeface="Courier"/>
              </a:rPr>
              <a:t>, </a:t>
            </a:r>
            <a:r>
              <a:rPr>
                <a:solidFill>
                  <a:srgbClr val="F44F4F"/>
                </a:solidFill>
                <a:latin typeface="Courier"/>
              </a:rPr>
              <a:t>""</a:t>
            </a:r>
            <a:r>
              <a:rPr>
                <a:solidFill>
                  <a:srgbClr val="CFCFC2"/>
                </a:solidFill>
                <a:latin typeface="Courier"/>
              </a:rPr>
              <a:t>, </a:t>
            </a:r>
            <a:r>
              <a:rPr>
                <a:solidFill>
                  <a:srgbClr val="F44F4F"/>
                </a:solidFill>
                <a:latin typeface="Courier"/>
              </a:rPr>
              <a:t>" "</a:t>
            </a:r>
            <a:r>
              <a:rPr>
                <a:solidFill>
                  <a:srgbClr val="CFCFC2"/>
                </a:solidFill>
                <a:latin typeface="Courier"/>
              </a:rPr>
              <a:t>)</a:t>
            </a:r>
            <a:br/>
            <a:r>
              <a:rPr>
                <a:solidFill>
                  <a:srgbClr val="CFCFC2"/>
                </a:solidFill>
                <a:latin typeface="Courier"/>
              </a:rPr>
              <a:t>data_custom_na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F44F4F"/>
                </a:solidFill>
                <a:latin typeface="Courier"/>
              </a:rPr>
              <a:t>"../../data/gapminder.csv"</a:t>
            </a:r>
            <a:r>
              <a:rPr>
                <a:solidFill>
                  <a:srgbClr val="CFCFC2"/>
                </a:solidFill>
                <a:latin typeface="Courier"/>
              </a:rPr>
              <a:t>, </a:t>
            </a:r>
            <a:r>
              <a:rPr>
                <a:solidFill>
                  <a:srgbClr val="2980B9"/>
                </a:solidFill>
                <a:latin typeface="Courier"/>
              </a:rPr>
              <a:t>na.strings =</a:t>
            </a:r>
            <a:r>
              <a:rPr>
                <a:solidFill>
                  <a:srgbClr val="CFCFC2"/>
                </a:solidFill>
                <a:latin typeface="Courier"/>
              </a:rPr>
              <a:t> na_values)</a:t>
            </a:r>
            <a:br/>
            <a:br/>
            <a:r>
              <a:rPr>
                <a:solidFill>
                  <a:srgbClr val="7A7C7D"/>
                </a:solidFill>
                <a:latin typeface="Courier"/>
              </a:rPr>
              <a:t># a file with no header</a:t>
            </a:r>
            <a:br/>
            <a:r>
              <a:rPr>
                <a:solidFill>
                  <a:srgbClr val="CFCFC2"/>
                </a:solidFill>
                <a:latin typeface="Courier"/>
              </a:rPr>
              <a:t>data_no_header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F44F4F"/>
                </a:solidFill>
                <a:latin typeface="Courier"/>
              </a:rPr>
              <a:t>"../../data/gapminder.csv"</a:t>
            </a:r>
            <a:r>
              <a:rPr>
                <a:solidFill>
                  <a:srgbClr val="CFCFC2"/>
                </a:solidFill>
                <a:latin typeface="Courier"/>
              </a:rPr>
              <a:t>, </a:t>
            </a:r>
            <a:r>
              <a:rPr>
                <a:solidFill>
                  <a:srgbClr val="2980B9"/>
                </a:solidFill>
                <a:latin typeface="Courier"/>
              </a:rPr>
              <a:t>header =</a:t>
            </a:r>
            <a:r>
              <a:rPr>
                <a:solidFill>
                  <a:srgbClr val="CFCFC2"/>
                </a:solidFill>
                <a:latin typeface="Courier"/>
              </a:rPr>
              <a:t> </a:t>
            </a:r>
            <a:r>
              <a:rPr b="1">
                <a:solidFill>
                  <a:srgbClr val="27AEAE"/>
                </a:solidFill>
                <a:latin typeface="Courier"/>
              </a:rPr>
              <a:t>FALSE</a:t>
            </a:r>
            <a:r>
              <a:rPr>
                <a:solidFill>
                  <a:srgbClr val="CFCFC2"/>
                </a:solidFill>
                <a:latin typeface="Courier"/>
              </a:rPr>
              <a:t>)</a:t>
            </a:r>
            <a:br/>
            <a:br/>
            <a:r>
              <a:rPr>
                <a:solidFill>
                  <a:srgbClr val="CFCFC2"/>
                </a:solidFill>
                <a:latin typeface="Courier"/>
              </a:rPr>
              <a:t>data_nows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F44F4F"/>
                </a:solidFill>
                <a:latin typeface="Courier"/>
              </a:rPr>
              <a:t>"../../data/gapminder.csv"</a:t>
            </a:r>
            <a:r>
              <a:rPr>
                <a:solidFill>
                  <a:srgbClr val="CFCFC2"/>
                </a:solidFill>
                <a:latin typeface="Courier"/>
              </a:rPr>
              <a:t>, </a:t>
            </a:r>
            <a:r>
              <a:rPr>
                <a:solidFill>
                  <a:srgbClr val="2980B9"/>
                </a:solidFill>
                <a:latin typeface="Courier"/>
              </a:rPr>
              <a:t>strip.white =</a:t>
            </a:r>
            <a:r>
              <a:rPr>
                <a:solidFill>
                  <a:srgbClr val="CFCFC2"/>
                </a:solidFill>
                <a:latin typeface="Courier"/>
              </a:rPr>
              <a:t> </a:t>
            </a:r>
            <a:r>
              <a:rPr b="1">
                <a:solidFill>
                  <a:srgbClr val="27AEAE"/>
                </a:solidFill>
                <a:latin typeface="Courier"/>
              </a:rPr>
              <a:t>TRUE</a:t>
            </a:r>
            <a:r>
              <a:rPr>
                <a:solidFill>
                  <a:srgbClr val="CFCFC2"/>
                </a:solidFill>
                <a:latin typeface="Courier"/>
              </a:rPr>
              <a:t>)</a:t>
            </a:r>
          </a:p>
          <a:p>
            <a:pPr lvl="0" indent="0" marL="0">
              <a:buNone/>
            </a:pPr>
            <a:r>
              <a:rPr/>
              <a:t>Tip: Use TRUE and FALSE instead of T and F. The latter can be overwritten accidentally since they are just variables in R.</a:t>
            </a:r>
          </a:p>
          <a:p>
            <a:pPr lvl="0" indent="0" marL="0">
              <a:buNone/>
            </a:pPr>
            <a:r>
              <a:rPr/>
              <a:t>Additional options and their defaults can be explored with ?read.csv() or ?read.table().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Tidyverse</a:t>
            </a:r>
          </a:p>
        </p:txBody>
      </p:sp>
      <p:sp>
        <p:nvSpPr>
          <p:cNvPr id="3" name="Content Placeholder 2"/>
          <p:cNvSpPr>
            <a:spLocks noGrp="1"/>
          </p:cNvSpPr>
          <p:nvPr>
            <p:ph idx="1"/>
          </p:nvPr>
        </p:nvSpPr>
        <p:spPr/>
        <p:txBody>
          <a:bodyPr/>
          <a:lstStyle/>
          <a:p>
            <a:pPr lvl="0" indent="0">
              <a:buNone/>
            </a:pPr>
            <a:r>
              <a:rPr>
                <a:solidFill>
                  <a:srgbClr val="8E44AD"/>
                </a:solidFill>
                <a:latin typeface="Courier"/>
              </a:rPr>
              <a:t>suppressWarnings</a:t>
            </a:r>
            <a:r>
              <a:rPr>
                <a:solidFill>
                  <a:srgbClr val="CFCFC2"/>
                </a:solidFill>
                <a:latin typeface="Courier"/>
              </a:rPr>
              <a:t>(</a:t>
            </a:r>
            <a:r>
              <a:rPr>
                <a:solidFill>
                  <a:srgbClr val="8E44AD"/>
                </a:solidFill>
                <a:latin typeface="Courier"/>
              </a:rPr>
              <a:t>library</a:t>
            </a:r>
            <a:r>
              <a:rPr>
                <a:solidFill>
                  <a:srgbClr val="CFCFC2"/>
                </a:solidFill>
                <a:latin typeface="Courier"/>
              </a:rPr>
              <a:t>(readr))</a:t>
            </a:r>
            <a:br/>
            <a:r>
              <a:rPr>
                <a:solidFill>
                  <a:srgbClr val="CFCFC2"/>
                </a:solidFill>
                <a:latin typeface="Courier"/>
              </a:rPr>
              <a:t>data_readr </a:t>
            </a:r>
            <a:r>
              <a:rPr>
                <a:solidFill>
                  <a:srgbClr val="27AE60"/>
                </a:solidFill>
                <a:latin typeface="Courier"/>
              </a:rPr>
              <a:t>&lt;-</a:t>
            </a:r>
            <a:r>
              <a:rPr>
                <a:solidFill>
                  <a:srgbClr val="CFCFC2"/>
                </a:solidFill>
                <a:latin typeface="Courier"/>
              </a:rPr>
              <a:t> </a:t>
            </a:r>
            <a:r>
              <a:rPr>
                <a:solidFill>
                  <a:srgbClr val="8E44AD"/>
                </a:solidFill>
                <a:latin typeface="Courier"/>
              </a:rPr>
              <a:t>suppressWarnings</a:t>
            </a:r>
            <a:r>
              <a:rPr>
                <a:solidFill>
                  <a:srgbClr val="CFCFC2"/>
                </a:solidFill>
                <a:latin typeface="Courier"/>
              </a:rPr>
              <a:t>(</a:t>
            </a:r>
            <a:r>
              <a:rPr>
                <a:solidFill>
                  <a:srgbClr val="8E44AD"/>
                </a:solidFill>
                <a:latin typeface="Courier"/>
              </a:rPr>
              <a:t>read_csv</a:t>
            </a:r>
            <a:r>
              <a:rPr>
                <a:solidFill>
                  <a:srgbClr val="CFCFC2"/>
                </a:solidFill>
                <a:latin typeface="Courier"/>
              </a:rPr>
              <a:t>(</a:t>
            </a:r>
            <a:r>
              <a:rPr>
                <a:solidFill>
                  <a:srgbClr val="F44F4F"/>
                </a:solidFill>
                <a:latin typeface="Courier"/>
              </a:rPr>
              <a:t>"../../data/gapminder.csv"</a:t>
            </a:r>
            <a:r>
              <a:rPr>
                <a:solidFill>
                  <a:srgbClr val="CFCFC2"/>
                </a:solidFill>
                <a:latin typeface="Courier"/>
              </a:rPr>
              <a:t>,</a:t>
            </a:r>
            <a:br/>
            <a:r>
              <a:rPr>
                <a:solidFill>
                  <a:srgbClr val="CFCFC2"/>
                </a:solidFill>
                <a:latin typeface="Courier"/>
              </a:rPr>
              <a:t>                                        </a:t>
            </a:r>
            <a:r>
              <a:rPr>
                <a:solidFill>
                  <a:srgbClr val="2980B9"/>
                </a:solidFill>
                <a:latin typeface="Courier"/>
              </a:rPr>
              <a:t>show_col_types =</a:t>
            </a:r>
            <a:r>
              <a:rPr>
                <a:solidFill>
                  <a:srgbClr val="CFCFC2"/>
                </a:solidFill>
                <a:latin typeface="Courier"/>
              </a:rPr>
              <a:t> </a:t>
            </a:r>
            <a:r>
              <a:rPr b="1">
                <a:solidFill>
                  <a:srgbClr val="27AEAE"/>
                </a:solidFill>
                <a:latin typeface="Courier"/>
              </a:rPr>
              <a:t>FALSE</a:t>
            </a:r>
            <a:r>
              <a:rPr>
                <a:solidFill>
                  <a:srgbClr val="CFCFC2"/>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fast with </a:t>
            </a:r>
            <a:r>
              <a:rPr>
                <a:latin typeface="Courier"/>
              </a:rPr>
              <a:t>data.table</a:t>
            </a:r>
          </a:p>
        </p:txBody>
      </p:sp>
      <p:sp>
        <p:nvSpPr>
          <p:cNvPr id="3" name="Content Placeholder 2"/>
          <p:cNvSpPr>
            <a:spLocks noGrp="1"/>
          </p:cNvSpPr>
          <p:nvPr>
            <p:ph idx="1"/>
          </p:nvPr>
        </p:nvSpPr>
        <p:spPr/>
        <p:txBody>
          <a:bodyPr/>
          <a:lstStyle/>
          <a:p>
            <a:pPr lvl="0" indent="0">
              <a:buNone/>
            </a:pPr>
            <a:r>
              <a:rPr>
                <a:latin typeface="Courier"/>
              </a:rPr>
              <a:t>## [1] TRUE</a:t>
            </a:r>
          </a:p>
          <a:p>
            <a:pPr lvl="0" indent="0">
              <a:buNone/>
            </a:pPr>
            <a:r>
              <a:rPr>
                <a:latin typeface="Courier"/>
              </a:rPr>
              <a:t>##           used (Mb) gc trigger  (Mb) max used  (Mb)
## Ncells 1322654 70.7    2487910 132.9  2487910 132.9
## Vcells 2452615 18.8    8388608  64.0  6171416  47.1</a:t>
            </a:r>
          </a:p>
          <a:p>
            <a:pPr lvl="0" indent="0">
              <a:buNone/>
            </a:pPr>
            <a:r>
              <a:rPr>
                <a:solidFill>
                  <a:srgbClr val="8E44AD"/>
                </a:solidFill>
                <a:latin typeface="Courier"/>
              </a:rPr>
              <a:t>print</a:t>
            </a:r>
            <a:r>
              <a:rPr>
                <a:solidFill>
                  <a:srgbClr val="CFCFC2"/>
                </a:solidFill>
                <a:latin typeface="Courier"/>
              </a:rPr>
              <a:t>(</a:t>
            </a:r>
            <a:r>
              <a:rPr>
                <a:solidFill>
                  <a:srgbClr val="8E44AD"/>
                </a:solidFill>
                <a:latin typeface="Courier"/>
              </a:rPr>
              <a:t>summary</a:t>
            </a:r>
            <a:r>
              <a:rPr>
                <a:solidFill>
                  <a:srgbClr val="CFCFC2"/>
                </a:solidFill>
                <a:latin typeface="Courier"/>
              </a:rPr>
              <a:t>(mb)[, </a:t>
            </a:r>
            <a:r>
              <a:rPr>
                <a:solidFill>
                  <a:srgbClr val="8E44AD"/>
                </a:solidFill>
                <a:latin typeface="Courier"/>
              </a:rPr>
              <a:t>c</a:t>
            </a:r>
            <a:r>
              <a:rPr>
                <a:solidFill>
                  <a:srgbClr val="CFCFC2"/>
                </a:solidFill>
                <a:latin typeface="Courier"/>
              </a:rPr>
              <a:t>(</a:t>
            </a:r>
            <a:r>
              <a:rPr>
                <a:solidFill>
                  <a:srgbClr val="F44F4F"/>
                </a:solidFill>
                <a:latin typeface="Courier"/>
              </a:rPr>
              <a:t>"expr"</a:t>
            </a:r>
            <a:r>
              <a:rPr>
                <a:solidFill>
                  <a:srgbClr val="CFCFC2"/>
                </a:solidFill>
                <a:latin typeface="Courier"/>
              </a:rPr>
              <a:t>,</a:t>
            </a:r>
            <a:r>
              <a:rPr>
                <a:solidFill>
                  <a:srgbClr val="F44F4F"/>
                </a:solidFill>
                <a:latin typeface="Courier"/>
              </a:rPr>
              <a:t>"min"</a:t>
            </a:r>
            <a:r>
              <a:rPr>
                <a:solidFill>
                  <a:srgbClr val="CFCFC2"/>
                </a:solidFill>
                <a:latin typeface="Courier"/>
              </a:rPr>
              <a:t>,</a:t>
            </a:r>
            <a:r>
              <a:rPr>
                <a:solidFill>
                  <a:srgbClr val="F44F4F"/>
                </a:solidFill>
                <a:latin typeface="Courier"/>
              </a:rPr>
              <a:t>"median"</a:t>
            </a:r>
            <a:r>
              <a:rPr>
                <a:solidFill>
                  <a:srgbClr val="CFCFC2"/>
                </a:solidFill>
                <a:latin typeface="Courier"/>
              </a:rPr>
              <a:t>,</a:t>
            </a:r>
            <a:r>
              <a:rPr>
                <a:solidFill>
                  <a:srgbClr val="F44F4F"/>
                </a:solidFill>
                <a:latin typeface="Courier"/>
              </a:rPr>
              <a:t>"mean"</a:t>
            </a:r>
            <a:r>
              <a:rPr>
                <a:solidFill>
                  <a:srgbClr val="CFCFC2"/>
                </a:solidFill>
                <a:latin typeface="Courier"/>
              </a:rPr>
              <a:t>,</a:t>
            </a:r>
            <a:r>
              <a:rPr>
                <a:solidFill>
                  <a:srgbClr val="F44F4F"/>
                </a:solidFill>
                <a:latin typeface="Courier"/>
              </a:rPr>
              <a:t>"max"</a:t>
            </a:r>
            <a:r>
              <a:rPr>
                <a:solidFill>
                  <a:srgbClr val="CFCFC2"/>
                </a:solidFill>
                <a:latin typeface="Courier"/>
              </a:rPr>
              <a:t>)])</a:t>
            </a:r>
          </a:p>
          <a:p>
            <a:pPr lvl="0" indent="0">
              <a:buNone/>
            </a:pPr>
            <a:r>
              <a:rPr>
                <a:latin typeface="Courier"/>
              </a:rPr>
              <a:t>##   expr     min   median     mean       max
## 1 base 760.901 855.7515 876.5449  1363.501
## 2   dt 656.601 788.6505 929.9180 13746.701</a:t>
            </a:r>
          </a:p>
          <a:p>
            <a:pPr lvl="0" indent="0">
              <a:buNone/>
            </a:pPr>
            <a:r>
              <a:rPr>
                <a:solidFill>
                  <a:srgbClr val="8E44AD"/>
                </a:solidFill>
                <a:latin typeface="Courier"/>
              </a:rPr>
              <a:t>unlink</a:t>
            </a:r>
            <a:r>
              <a:rPr>
                <a:solidFill>
                  <a:srgbClr val="CFCFC2"/>
                </a:solidFill>
                <a:latin typeface="Courier"/>
              </a:rPr>
              <a:t>(tmp)</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
        <p:nvSpPr>
          <p:cNvPr id="3" name="Content Placeholder 2"/>
          <p:cNvSpPr>
            <a:spLocks noGrp="1"/>
          </p:cNvSpPr>
          <p:nvPr>
            <p:ph idx="1"/>
          </p:nvPr>
        </p:nvSpPr>
        <p:spPr/>
        <p:txBody>
          <a:bodyPr/>
          <a:lstStyle/>
          <a:p>
            <a:pPr lvl="0" indent="0">
              <a:buNone/>
            </a:pPr>
            <a:r>
              <a:rPr>
                <a:solidFill>
                  <a:srgbClr val="7A7C7D"/>
                </a:solidFill>
                <a:latin typeface="Courier"/>
              </a:rPr>
              <a:t># r norm generates random numbers</a:t>
            </a:r>
            <a:br/>
            <a:r>
              <a:rPr>
                <a:solidFill>
                  <a:srgbClr val="8E44AD"/>
                </a:solidFill>
                <a:latin typeface="Courier"/>
              </a:rPr>
              <a:t>rnorm</a:t>
            </a:r>
            <a:r>
              <a:rPr>
                <a:solidFill>
                  <a:srgbClr val="CFCFC2"/>
                </a:solidFill>
                <a:latin typeface="Courier"/>
              </a:rPr>
              <a:t>(</a:t>
            </a:r>
            <a:r>
              <a:rPr>
                <a:solidFill>
                  <a:srgbClr val="F67400"/>
                </a:solidFill>
                <a:latin typeface="Courier"/>
              </a:rPr>
              <a:t>10</a:t>
            </a:r>
            <a:r>
              <a:rPr>
                <a:solidFill>
                  <a:srgbClr val="CFCFC2"/>
                </a:solidFill>
                <a:latin typeface="Courier"/>
              </a:rPr>
              <a:t>, </a:t>
            </a:r>
            <a:r>
              <a:rPr>
                <a:solidFill>
                  <a:srgbClr val="2980B9"/>
                </a:solidFill>
                <a:latin typeface="Courier"/>
              </a:rPr>
              <a:t>mean =</a:t>
            </a:r>
            <a:r>
              <a:rPr>
                <a:solidFill>
                  <a:srgbClr val="CFCFC2"/>
                </a:solidFill>
                <a:latin typeface="Courier"/>
              </a:rPr>
              <a:t> </a:t>
            </a:r>
            <a:r>
              <a:rPr>
                <a:solidFill>
                  <a:srgbClr val="F67400"/>
                </a:solidFill>
                <a:latin typeface="Courier"/>
              </a:rPr>
              <a:t>50</a:t>
            </a:r>
            <a:r>
              <a:rPr>
                <a:solidFill>
                  <a:srgbClr val="CFCFC2"/>
                </a:solidFill>
                <a:latin typeface="Courier"/>
              </a:rPr>
              <a:t>, </a:t>
            </a:r>
            <a:r>
              <a:rPr>
                <a:solidFill>
                  <a:srgbClr val="2980B9"/>
                </a:solidFill>
                <a:latin typeface="Courier"/>
              </a:rPr>
              <a:t>sd =</a:t>
            </a:r>
            <a:r>
              <a:rPr>
                <a:solidFill>
                  <a:srgbClr val="CFCFC2"/>
                </a:solidFill>
                <a:latin typeface="Courier"/>
              </a:rPr>
              <a:t> </a:t>
            </a:r>
            <a:r>
              <a:rPr>
                <a:solidFill>
                  <a:srgbClr val="F67400"/>
                </a:solidFill>
                <a:latin typeface="Courier"/>
              </a:rPr>
              <a:t>10</a:t>
            </a:r>
            <a:r>
              <a:rPr>
                <a:solidFill>
                  <a:srgbClr val="CFCFC2"/>
                </a:solidFill>
                <a:latin typeface="Courier"/>
              </a:rPr>
              <a:t>)</a:t>
            </a:r>
          </a:p>
          <a:p>
            <a:pPr lvl="0" indent="0">
              <a:buNone/>
            </a:pPr>
            <a:r>
              <a:rPr>
                <a:latin typeface="Courier"/>
              </a:rPr>
              <a:t>##  [1] 51.91530 54.89283 34.93789 47.75979 60.25132 47.70870 56.98885 56.03272
##  [9] 52.28594 52.07687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User-defined functions</a:t>
            </a:r>
          </a:p>
        </p:txBody>
      </p:sp>
      <p:sp>
        <p:nvSpPr>
          <p:cNvPr id="3" name="Content Placeholder 2"/>
          <p:cNvSpPr>
            <a:spLocks noGrp="1"/>
          </p:cNvSpPr>
          <p:nvPr>
            <p:ph idx="1"/>
          </p:nvPr>
        </p:nvSpPr>
        <p:spPr/>
        <p:txBody>
          <a:bodyPr/>
          <a:lstStyle/>
          <a:p>
            <a:pPr lvl="0" indent="0">
              <a:buNone/>
            </a:pPr>
            <a:r>
              <a:rPr>
                <a:solidFill>
                  <a:srgbClr val="7A7C7D"/>
                </a:solidFill>
                <a:latin typeface="Courier"/>
              </a:rPr>
              <a:t># x the first number to sum</a:t>
            </a:r>
            <a:br/>
            <a:r>
              <a:rPr>
                <a:solidFill>
                  <a:srgbClr val="7A7C7D"/>
                </a:solidFill>
                <a:latin typeface="Courier"/>
              </a:rPr>
              <a:t># y the second number to sum</a:t>
            </a:r>
            <a:br/>
            <a:r>
              <a:rPr>
                <a:solidFill>
                  <a:srgbClr val="7A7C7D"/>
                </a:solidFill>
                <a:latin typeface="Courier"/>
              </a:rPr>
              <a:t># return a new summed number</a:t>
            </a:r>
            <a:br/>
            <a:r>
              <a:rPr>
                <a:solidFill>
                  <a:srgbClr val="CFCFC2"/>
                </a:solidFill>
                <a:latin typeface="Courier"/>
              </a:rPr>
              <a:t>calculate_sum </a:t>
            </a:r>
            <a:r>
              <a:rPr>
                <a:solidFill>
                  <a:srgbClr val="27AE60"/>
                </a:solidFill>
                <a:latin typeface="Courier"/>
              </a:rPr>
              <a:t>&lt;-</a:t>
            </a:r>
            <a:r>
              <a:rPr>
                <a:solidFill>
                  <a:srgbClr val="CFCFC2"/>
                </a:solidFill>
                <a:latin typeface="Courier"/>
              </a:rPr>
              <a:t> </a:t>
            </a:r>
            <a:r>
              <a:rPr b="1">
                <a:solidFill>
                  <a:srgbClr val="FDBC4B"/>
                </a:solidFill>
                <a:latin typeface="Courier"/>
              </a:rPr>
              <a:t>function</a:t>
            </a:r>
            <a:r>
              <a:rPr>
                <a:solidFill>
                  <a:srgbClr val="CFCFC2"/>
                </a:solidFill>
                <a:latin typeface="Courier"/>
              </a:rPr>
              <a:t>(x, y){</a:t>
            </a:r>
            <a:br/>
            <a:r>
              <a:rPr>
                <a:solidFill>
                  <a:srgbClr val="CFCFC2"/>
                </a:solidFill>
                <a:latin typeface="Courier"/>
              </a:rPr>
              <a:t>  x </a:t>
            </a:r>
            <a:r>
              <a:rPr>
                <a:solidFill>
                  <a:srgbClr val="3DAEE9"/>
                </a:solidFill>
                <a:latin typeface="Courier"/>
              </a:rPr>
              <a:t>+</a:t>
            </a:r>
            <a:r>
              <a:rPr>
                <a:solidFill>
                  <a:srgbClr val="CFCFC2"/>
                </a:solidFill>
                <a:latin typeface="Courier"/>
              </a:rPr>
              <a:t> y</a:t>
            </a:r>
            <a:br/>
            <a:r>
              <a:rPr>
                <a:solidFill>
                  <a:srgbClr val="CFCFC2"/>
                </a:solidFill>
                <a:latin typeface="Courier"/>
              </a:rPr>
              <a:t>}</a:t>
            </a:r>
            <a:br/>
            <a:r>
              <a:rPr>
                <a:solidFill>
                  <a:srgbClr val="8E44AD"/>
                </a:solidFill>
                <a:latin typeface="Courier"/>
              </a:rPr>
              <a:t>calculate_sum</a:t>
            </a:r>
            <a:r>
              <a:rPr>
                <a:solidFill>
                  <a:srgbClr val="CFCFC2"/>
                </a:solidFill>
                <a:latin typeface="Courier"/>
              </a:rPr>
              <a:t>(</a:t>
            </a:r>
            <a:r>
              <a:rPr>
                <a:solidFill>
                  <a:srgbClr val="F67400"/>
                </a:solidFill>
                <a:latin typeface="Courier"/>
              </a:rPr>
              <a:t>2</a:t>
            </a:r>
            <a:r>
              <a:rPr>
                <a:solidFill>
                  <a:srgbClr val="CFCFC2"/>
                </a:solidFill>
                <a:latin typeface="Courier"/>
              </a:rPr>
              <a:t>, </a:t>
            </a:r>
            <a:r>
              <a:rPr>
                <a:solidFill>
                  <a:srgbClr val="F67400"/>
                </a:solidFill>
                <a:latin typeface="Courier"/>
              </a:rPr>
              <a:t>4</a:t>
            </a:r>
            <a:r>
              <a:rPr>
                <a:solidFill>
                  <a:srgbClr val="CFCFC2"/>
                </a:solidFill>
                <a:latin typeface="Courier"/>
              </a:rPr>
              <a:t>)</a:t>
            </a:r>
          </a:p>
          <a:p>
            <a:pPr lvl="0" indent="0">
              <a:buNone/>
            </a:pPr>
            <a:r>
              <a:rPr>
                <a:latin typeface="Courier"/>
              </a:rPr>
              <a:t>## [1] 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594359"/>
            <a:ext cx="3200400" cy="2286000"/>
          </a:xfrm>
        </p:spPr>
        <p:txBody>
          <a:bodyPr/>
          <a:lstStyle/>
          <a:p>
            <a:pPr lvl="0" indent="0" marL="0">
              <a:buNone/>
            </a:pPr>
            <a:r>
              <a:rPr/>
              <a:t>Coding challenge</a:t>
            </a:r>
          </a:p>
        </p:txBody>
      </p:sp>
      <p:sp>
        <p:nvSpPr>
          <p:cNvPr id="4" name="Text Placeholder 3"/>
          <p:cNvSpPr>
            <a:spLocks noGrp="1"/>
          </p:cNvSpPr>
          <p:nvPr>
            <p:ph idx="2" sz="half" type="body"/>
          </p:nvPr>
        </p:nvSpPr>
        <p:spPr/>
        <p:txBody>
          <a:bodyPr/>
          <a:lstStyle/>
          <a:p>
            <a:pPr lvl="0"/>
            <a:r>
              <a:rPr/>
              <a:t>Using the prior syntax define a new function (call it whatever you want) that takes in a user-defined mean, standard deviation and number of samples and then generates a set of normally distributed numbers and then returns a visual using the base R </a:t>
            </a:r>
            <a:r>
              <a:rPr>
                <a:latin typeface="Courier"/>
              </a:rPr>
              <a:t>hist</a:t>
            </a:r>
            <a:r>
              <a:rPr/>
              <a:t> function.</a:t>
            </a:r>
          </a:p>
        </p:txBody>
      </p:sp>
      <p:pic>
        <p:nvPicPr>
          <p:cNvPr descr="fundamental-concepts-with-RStudio-90-mins_files/figure-pptx/unnamed-chunk-30-1.png" id="0" name="Picture 1"/>
          <p:cNvPicPr>
            <a:picLocks noGrp="1" noChangeAspect="1"/>
          </p:cNvPicPr>
          <p:nvPr/>
        </p:nvPicPr>
        <p:blipFill>
          <a:blip r:embed="rId2"/>
          <a:stretch>
            <a:fillRect/>
          </a:stretch>
        </p:blipFill>
        <p:spPr bwMode="auto">
          <a:xfrm>
            <a:off x="4800600" y="762000"/>
            <a:ext cx="6489700" cy="5194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a:t>
            </a:r>
          </a:p>
        </p:txBody>
      </p:sp>
      <p:pic>
        <p:nvPicPr>
          <p:cNvPr descr="../../docs/assets/images/box.jpeg" id="0" name="Picture 1"/>
          <p:cNvPicPr>
            <a:picLocks noGrp="1" noChangeAspect="1"/>
          </p:cNvPicPr>
          <p:nvPr/>
        </p:nvPicPr>
        <p:blipFill>
          <a:blip r:embed="rId2"/>
          <a:stretch>
            <a:fillRect/>
          </a:stretch>
        </p:blipFill>
        <p:spPr bwMode="auto">
          <a:xfrm>
            <a:off x="4114800" y="1841500"/>
            <a:ext cx="4013200" cy="4013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Cont’d</a:t>
            </a:r>
          </a:p>
        </p:txBody>
      </p:sp>
      <p:sp>
        <p:nvSpPr>
          <p:cNvPr id="3" name="Content Placeholder 2"/>
          <p:cNvSpPr>
            <a:spLocks noGrp="1"/>
          </p:cNvSpPr>
          <p:nvPr>
            <p:ph idx="1"/>
          </p:nvPr>
        </p:nvSpPr>
        <p:spPr/>
        <p:txBody>
          <a:bodyPr/>
          <a:lstStyle/>
          <a:p>
            <a:pPr lvl="0" indent="0">
              <a:buNone/>
            </a:pPr>
            <a:r>
              <a:rPr>
                <a:solidFill>
                  <a:srgbClr val="7A7C7D"/>
                </a:solidFill>
                <a:latin typeface="Courier"/>
              </a:rPr>
              <a:t># You can then recall the values (object) associated with your variable...</a:t>
            </a:r>
            <a:br/>
            <a:r>
              <a:rPr>
                <a:solidFill>
                  <a:srgbClr val="CFCFC2"/>
                </a:solidFill>
                <a:latin typeface="Courier"/>
              </a:rPr>
              <a:t>my_variable </a:t>
            </a:r>
            <a:r>
              <a:rPr>
                <a:solidFill>
                  <a:srgbClr val="27AE60"/>
                </a:solidFill>
                <a:latin typeface="Courier"/>
              </a:rPr>
              <a:t>&lt;-</a:t>
            </a:r>
            <a:r>
              <a:rPr>
                <a:solidFill>
                  <a:srgbClr val="CFCFC2"/>
                </a:solidFill>
                <a:latin typeface="Courier"/>
              </a:rPr>
              <a:t> </a:t>
            </a:r>
            <a:r>
              <a:rPr>
                <a:solidFill>
                  <a:srgbClr val="8E44AD"/>
                </a:solidFill>
                <a:latin typeface="Courier"/>
              </a:rPr>
              <a:t>c</a:t>
            </a:r>
            <a:r>
              <a:rPr>
                <a:solidFill>
                  <a:srgbClr val="CFCFC2"/>
                </a:solidFill>
                <a:latin typeface="Courier"/>
              </a:rPr>
              <a:t>(</a:t>
            </a:r>
            <a:r>
              <a:rPr>
                <a:solidFill>
                  <a:srgbClr val="F67400"/>
                </a:solidFill>
                <a:latin typeface="Courier"/>
              </a:rPr>
              <a:t>1</a:t>
            </a:r>
            <a:r>
              <a:rPr>
                <a:solidFill>
                  <a:srgbClr val="3DAEE9"/>
                </a:solidFill>
                <a:latin typeface="Courier"/>
              </a:rPr>
              <a:t>:</a:t>
            </a:r>
            <a:r>
              <a:rPr>
                <a:solidFill>
                  <a:srgbClr val="F67400"/>
                </a:solidFill>
                <a:latin typeface="Courier"/>
              </a:rPr>
              <a:t>10</a:t>
            </a:r>
            <a:r>
              <a:rPr>
                <a:solidFill>
                  <a:srgbClr val="CFCFC2"/>
                </a:solidFill>
                <a:latin typeface="Courier"/>
              </a:rPr>
              <a:t>)</a:t>
            </a:r>
            <a:br/>
            <a:r>
              <a:rPr>
                <a:solidFill>
                  <a:srgbClr val="CFCFC2"/>
                </a:solidFill>
                <a:latin typeface="Courier"/>
              </a:rPr>
              <a:t>myAlphabet </a:t>
            </a:r>
            <a:r>
              <a:rPr>
                <a:solidFill>
                  <a:srgbClr val="27AE60"/>
                </a:solidFill>
                <a:latin typeface="Courier"/>
              </a:rPr>
              <a:t>&lt;-</a:t>
            </a:r>
            <a:r>
              <a:rPr>
                <a:solidFill>
                  <a:srgbClr val="CFCFC2"/>
                </a:solidFill>
                <a:latin typeface="Courier"/>
              </a:rPr>
              <a:t> letters[</a:t>
            </a:r>
            <a:r>
              <a:rPr>
                <a:solidFill>
                  <a:srgbClr val="F67400"/>
                </a:solidFill>
                <a:latin typeface="Courier"/>
              </a:rPr>
              <a:t>1</a:t>
            </a:r>
            <a:r>
              <a:rPr>
                <a:solidFill>
                  <a:srgbClr val="3DAEE9"/>
                </a:solidFill>
                <a:latin typeface="Courier"/>
              </a:rPr>
              <a:t>:</a:t>
            </a:r>
            <a:r>
              <a:rPr>
                <a:solidFill>
                  <a:srgbClr val="F67400"/>
                </a:solidFill>
                <a:latin typeface="Courier"/>
              </a:rPr>
              <a:t>5</a:t>
            </a:r>
            <a:r>
              <a:rPr>
                <a:solidFill>
                  <a:srgbClr val="CFCFC2"/>
                </a:solidFill>
                <a:latin typeface="Courier"/>
              </a:rPr>
              <a:t>]</a:t>
            </a:r>
            <a:br/>
            <a:r>
              <a:rPr>
                <a:solidFill>
                  <a:srgbClr val="CFCFC2"/>
                </a:solidFill>
                <a:latin typeface="Courier"/>
              </a:rPr>
              <a:t>myNumbers </a:t>
            </a:r>
            <a:r>
              <a:rPr>
                <a:solidFill>
                  <a:srgbClr val="27AE60"/>
                </a:solidFill>
                <a:latin typeface="Courier"/>
              </a:rPr>
              <a:t>&lt;-</a:t>
            </a:r>
            <a:r>
              <a:rPr>
                <a:solidFill>
                  <a:srgbClr val="CFCFC2"/>
                </a:solidFill>
                <a:latin typeface="Courier"/>
              </a:rPr>
              <a:t> </a:t>
            </a:r>
            <a:r>
              <a:rPr>
                <a:solidFill>
                  <a:srgbClr val="8E44AD"/>
                </a:solidFill>
                <a:latin typeface="Courier"/>
              </a:rPr>
              <a:t>c</a:t>
            </a:r>
            <a:r>
              <a:rPr>
                <a:solidFill>
                  <a:srgbClr val="CFCFC2"/>
                </a:solidFill>
                <a:latin typeface="Courier"/>
              </a:rPr>
              <a:t>(</a:t>
            </a:r>
            <a:r>
              <a:rPr>
                <a:solidFill>
                  <a:srgbClr val="F67400"/>
                </a:solidFill>
                <a:latin typeface="Courier"/>
              </a:rPr>
              <a:t>1</a:t>
            </a:r>
            <a:r>
              <a:rPr>
                <a:solidFill>
                  <a:srgbClr val="3DAEE9"/>
                </a:solidFill>
                <a:latin typeface="Courier"/>
              </a:rPr>
              <a:t>:</a:t>
            </a:r>
            <a:r>
              <a:rPr>
                <a:solidFill>
                  <a:srgbClr val="F67400"/>
                </a:solidFill>
                <a:latin typeface="Courier"/>
              </a:rPr>
              <a:t>5</a:t>
            </a:r>
            <a:r>
              <a:rPr>
                <a:solidFill>
                  <a:srgbClr val="CFCFC2"/>
                </a:solidFill>
                <a:latin typeface="Courier"/>
              </a:rPr>
              <a:t>)</a:t>
            </a:r>
            <a:br/>
            <a:r>
              <a:rPr>
                <a:solidFill>
                  <a:srgbClr val="7A7C7D"/>
                </a:solidFill>
                <a:latin typeface="Courier"/>
              </a:rPr>
              <a:t>#And plug it into functions, ie, do computations on it...</a:t>
            </a:r>
            <a:br/>
            <a:br/>
            <a:r>
              <a:rPr>
                <a:solidFill>
                  <a:srgbClr val="CFCFC2"/>
                </a:solidFill>
                <a:latin typeface="Courier"/>
              </a:rPr>
              <a:t>my_variable</a:t>
            </a:r>
          </a:p>
          <a:p>
            <a:pPr lvl="0" indent="0">
              <a:buNone/>
            </a:pPr>
            <a:r>
              <a:rPr>
                <a:latin typeface="Courier"/>
              </a:rPr>
              <a:t>##  [1]  1  2  3  4  5  6  7  8  9 10</a:t>
            </a:r>
          </a:p>
          <a:p>
            <a:pPr lvl="0" indent="0">
              <a:buNone/>
            </a:pPr>
            <a:r>
              <a:rPr>
                <a:solidFill>
                  <a:srgbClr val="CFCFC2"/>
                </a:solidFill>
                <a:latin typeface="Courier"/>
              </a:rPr>
              <a:t>my_variable </a:t>
            </a:r>
            <a:r>
              <a:rPr>
                <a:solidFill>
                  <a:srgbClr val="3DAEE9"/>
                </a:solidFill>
                <a:latin typeface="Courier"/>
              </a:rPr>
              <a:t>*</a:t>
            </a:r>
            <a:r>
              <a:rPr>
                <a:solidFill>
                  <a:srgbClr val="CFCFC2"/>
                </a:solidFill>
                <a:latin typeface="Courier"/>
              </a:rPr>
              <a:t> </a:t>
            </a:r>
            <a:r>
              <a:rPr>
                <a:solidFill>
                  <a:srgbClr val="F67400"/>
                </a:solidFill>
                <a:latin typeface="Courier"/>
              </a:rPr>
              <a:t>2</a:t>
            </a:r>
          </a:p>
          <a:p>
            <a:pPr lvl="0" indent="0">
              <a:buNone/>
            </a:pPr>
            <a:r>
              <a:rPr>
                <a:latin typeface="Courier"/>
              </a:rPr>
              <a:t>##  [1]  2  4  6  8 10 12 14 16 18 20</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Naming variables</a:t>
            </a:r>
          </a:p>
        </p:txBody>
      </p:sp>
      <p:sp>
        <p:nvSpPr>
          <p:cNvPr id="3" name="Content Placeholder 2"/>
          <p:cNvSpPr>
            <a:spLocks noGrp="1"/>
          </p:cNvSpPr>
          <p:nvPr>
            <p:ph idx="1"/>
          </p:nvPr>
        </p:nvSpPr>
        <p:spPr/>
        <p:txBody>
          <a:bodyPr/>
          <a:lstStyle/>
          <a:p>
            <a:pPr lvl="0" indent="0">
              <a:buNone/>
            </a:pPr>
            <a:r>
              <a:rPr>
                <a:solidFill>
                  <a:srgbClr val="7A7C7D"/>
                </a:solidFill>
                <a:latin typeface="Courier"/>
              </a:rPr>
              <a:t># camel case</a:t>
            </a:r>
            <a:br/>
            <a:r>
              <a:rPr>
                <a:solidFill>
                  <a:srgbClr val="CFCFC2"/>
                </a:solidFill>
                <a:latin typeface="Courier"/>
              </a:rPr>
              <a:t>myNumber </a:t>
            </a:r>
            <a:r>
              <a:rPr>
                <a:solidFill>
                  <a:srgbClr val="27AE60"/>
                </a:solidFill>
                <a:latin typeface="Courier"/>
              </a:rPr>
              <a:t>&lt;-</a:t>
            </a:r>
            <a:r>
              <a:rPr>
                <a:solidFill>
                  <a:srgbClr val="CFCFC2"/>
                </a:solidFill>
                <a:latin typeface="Courier"/>
              </a:rPr>
              <a:t> </a:t>
            </a:r>
            <a:r>
              <a:rPr>
                <a:solidFill>
                  <a:srgbClr val="F44F4F"/>
                </a:solidFill>
                <a:latin typeface="Courier"/>
              </a:rPr>
              <a:t>"Hello"</a:t>
            </a:r>
            <a:r>
              <a:rPr>
                <a:solidFill>
                  <a:srgbClr val="CFCFC2"/>
                </a:solidFill>
                <a:latin typeface="Courier"/>
              </a:rPr>
              <a:t> </a:t>
            </a:r>
            <a:r>
              <a:rPr>
                <a:solidFill>
                  <a:srgbClr val="7A7C7D"/>
                </a:solidFill>
                <a:latin typeface="Courier"/>
              </a:rPr>
              <a:t># bad naming</a:t>
            </a:r>
            <a:br/>
            <a:r>
              <a:rPr>
                <a:solidFill>
                  <a:srgbClr val="CFCFC2"/>
                </a:solidFill>
                <a:latin typeface="Courier"/>
              </a:rPr>
              <a:t>myNumber </a:t>
            </a:r>
            <a:r>
              <a:rPr>
                <a:solidFill>
                  <a:srgbClr val="27AE60"/>
                </a:solidFill>
                <a:latin typeface="Courier"/>
              </a:rPr>
              <a:t>&lt;-</a:t>
            </a:r>
            <a:r>
              <a:rPr>
                <a:solidFill>
                  <a:srgbClr val="CFCFC2"/>
                </a:solidFill>
                <a:latin typeface="Courier"/>
              </a:rPr>
              <a:t> </a:t>
            </a:r>
            <a:r>
              <a:rPr>
                <a:solidFill>
                  <a:srgbClr val="F67400"/>
                </a:solidFill>
                <a:latin typeface="Courier"/>
              </a:rPr>
              <a:t>10</a:t>
            </a:r>
            <a:r>
              <a:rPr>
                <a:solidFill>
                  <a:srgbClr val="CFCFC2"/>
                </a:solidFill>
                <a:latin typeface="Courier"/>
              </a:rPr>
              <a:t> </a:t>
            </a:r>
            <a:r>
              <a:rPr>
                <a:solidFill>
                  <a:srgbClr val="7A7C7D"/>
                </a:solidFill>
                <a:latin typeface="Courier"/>
              </a:rPr>
              <a:t># good naming</a:t>
            </a:r>
            <a:br/>
            <a:r>
              <a:rPr>
                <a:solidFill>
                  <a:srgbClr val="7A7C7D"/>
                </a:solidFill>
                <a:latin typeface="Courier"/>
              </a:rPr>
              <a:t># skeleton case</a:t>
            </a:r>
            <a:br/>
            <a:r>
              <a:rPr>
                <a:solidFill>
                  <a:srgbClr val="CFCFC2"/>
                </a:solidFill>
                <a:latin typeface="Courier"/>
              </a:rPr>
              <a:t>my_number </a:t>
            </a:r>
            <a:r>
              <a:rPr>
                <a:solidFill>
                  <a:srgbClr val="27AE60"/>
                </a:solidFill>
                <a:latin typeface="Courier"/>
              </a:rPr>
              <a:t>&lt;-</a:t>
            </a:r>
            <a:r>
              <a:rPr>
                <a:solidFill>
                  <a:srgbClr val="CFCFC2"/>
                </a:solidFill>
                <a:latin typeface="Courier"/>
              </a:rPr>
              <a:t> </a:t>
            </a:r>
            <a:r>
              <a:rPr>
                <a:solidFill>
                  <a:srgbClr val="F67400"/>
                </a:solidFill>
                <a:latin typeface="Courier"/>
              </a:rPr>
              <a:t>10</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Types</a:t>
            </a:r>
          </a:p>
        </p:txBody>
      </p:sp>
      <p:sp>
        <p:nvSpPr>
          <p:cNvPr id="3" name="Content Placeholder 2"/>
          <p:cNvSpPr>
            <a:spLocks noGrp="1"/>
          </p:cNvSpPr>
          <p:nvPr>
            <p:ph idx="1"/>
          </p:nvPr>
        </p:nvSpPr>
        <p:spPr/>
        <p:txBody>
          <a:bodyPr/>
          <a:lstStyle/>
          <a:p>
            <a:pPr lvl="0"/>
            <a:r>
              <a:rPr/>
              <a:t>Note: The function </a:t>
            </a:r>
            <a:r>
              <a:rPr>
                <a:latin typeface="Courier"/>
              </a:rPr>
              <a:t>typeof()</a:t>
            </a:r>
            <a:r>
              <a:rPr/>
              <a:t>, will tell you what data type you have…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Boolean (Logical Data)</a:t>
            </a:r>
          </a:p>
        </p:txBody>
      </p:sp>
      <p:sp>
        <p:nvSpPr>
          <p:cNvPr id="3" name="Content Placeholder 2"/>
          <p:cNvSpPr>
            <a:spLocks noGrp="1"/>
          </p:cNvSpPr>
          <p:nvPr>
            <p:ph idx="1"/>
          </p:nvPr>
        </p:nvSpPr>
        <p:spPr/>
        <p:txBody>
          <a:bodyPr/>
          <a:lstStyle/>
          <a:p>
            <a:pPr lvl="0"/>
            <a:r>
              <a:rPr>
                <a:latin typeface="Courier"/>
              </a:rPr>
              <a:t>boolean</a:t>
            </a:r>
            <a:r>
              <a:rPr/>
              <a:t> data are generally referred to as </a:t>
            </a:r>
            <a:r>
              <a:rPr>
                <a:latin typeface="Courier"/>
              </a:rPr>
              <a:t>logical</a:t>
            </a:r>
          </a:p>
          <a:p>
            <a:pPr lvl="0" indent="0">
              <a:buNone/>
            </a:pPr>
            <a:r>
              <a:rPr>
                <a:solidFill>
                  <a:srgbClr val="CFCFC2"/>
                </a:solidFill>
                <a:latin typeface="Courier"/>
              </a:rPr>
              <a:t>myBool </a:t>
            </a:r>
            <a:r>
              <a:rPr>
                <a:solidFill>
                  <a:srgbClr val="27AE60"/>
                </a:solidFill>
                <a:latin typeface="Courier"/>
              </a:rPr>
              <a:t>&lt;-</a:t>
            </a:r>
            <a:r>
              <a:rPr>
                <a:solidFill>
                  <a:srgbClr val="CFCFC2"/>
                </a:solidFill>
                <a:latin typeface="Courier"/>
              </a:rPr>
              <a:t> </a:t>
            </a:r>
            <a:r>
              <a:rPr b="1">
                <a:solidFill>
                  <a:srgbClr val="27AEAE"/>
                </a:solidFill>
                <a:latin typeface="Courier"/>
              </a:rPr>
              <a:t>TRUE</a:t>
            </a:r>
            <a:r>
              <a:rPr>
                <a:solidFill>
                  <a:srgbClr val="CFCFC2"/>
                </a:solidFill>
                <a:latin typeface="Courier"/>
              </a:rPr>
              <a:t> </a:t>
            </a:r>
            <a:r>
              <a:rPr>
                <a:solidFill>
                  <a:srgbClr val="7A7C7D"/>
                </a:solidFill>
                <a:latin typeface="Courier"/>
              </a:rPr>
              <a:t># this is camel case</a:t>
            </a:r>
            <a:br/>
            <a:r>
              <a:rPr>
                <a:solidFill>
                  <a:srgbClr val="8E44AD"/>
                </a:solidFill>
                <a:latin typeface="Courier"/>
              </a:rPr>
              <a:t>typeof</a:t>
            </a:r>
            <a:r>
              <a:rPr>
                <a:solidFill>
                  <a:srgbClr val="CFCFC2"/>
                </a:solidFill>
                <a:latin typeface="Courier"/>
              </a:rPr>
              <a:t>(myBool)</a:t>
            </a:r>
          </a:p>
          <a:p>
            <a:pPr lvl="0" indent="0">
              <a:buNone/>
            </a:pPr>
            <a:r>
              <a:rPr>
                <a:latin typeface="Courier"/>
              </a:rPr>
              <a:t>## [1] "logical"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Numeric (Double)</a:t>
            </a:r>
          </a:p>
        </p:txBody>
      </p:sp>
      <p:sp>
        <p:nvSpPr>
          <p:cNvPr id="3" name="Content Placeholder 2"/>
          <p:cNvSpPr>
            <a:spLocks noGrp="1"/>
          </p:cNvSpPr>
          <p:nvPr>
            <p:ph idx="1"/>
          </p:nvPr>
        </p:nvSpPr>
        <p:spPr/>
        <p:txBody>
          <a:bodyPr/>
          <a:lstStyle/>
          <a:p>
            <a:pPr lvl="0"/>
            <a:r>
              <a:rPr>
                <a:latin typeface="Courier"/>
              </a:rPr>
              <a:t>numeric</a:t>
            </a:r>
            <a:r>
              <a:rPr/>
              <a:t> data are subdivided into </a:t>
            </a:r>
            <a:r>
              <a:rPr>
                <a:latin typeface="Courier"/>
              </a:rPr>
              <a:t>double</a:t>
            </a:r>
            <a:r>
              <a:rPr/>
              <a:t> and </a:t>
            </a:r>
            <a:r>
              <a:rPr>
                <a:latin typeface="Courier"/>
              </a:rPr>
              <a:t>integer</a:t>
            </a:r>
            <a:r>
              <a:rPr/>
              <a:t>; the difference is generally of little significance, as R manages the distinctions for you, but be wary if you’re dealing with particularly large numbers</a:t>
            </a:r>
          </a:p>
          <a:p>
            <a:pPr lvl="0" indent="0">
              <a:buNone/>
            </a:pPr>
            <a:r>
              <a:rPr>
                <a:solidFill>
                  <a:srgbClr val="CFCFC2"/>
                </a:solidFill>
                <a:latin typeface="Courier"/>
              </a:rPr>
              <a:t>myDouble </a:t>
            </a:r>
            <a:r>
              <a:rPr>
                <a:solidFill>
                  <a:srgbClr val="27AE60"/>
                </a:solidFill>
                <a:latin typeface="Courier"/>
              </a:rPr>
              <a:t>&lt;-</a:t>
            </a:r>
            <a:r>
              <a:rPr>
                <a:solidFill>
                  <a:srgbClr val="CFCFC2"/>
                </a:solidFill>
                <a:latin typeface="Courier"/>
              </a:rPr>
              <a:t> </a:t>
            </a:r>
            <a:r>
              <a:rPr>
                <a:solidFill>
                  <a:srgbClr val="F67400"/>
                </a:solidFill>
                <a:latin typeface="Courier"/>
              </a:rPr>
              <a:t>10.5</a:t>
            </a:r>
            <a:br/>
            <a:r>
              <a:rPr>
                <a:solidFill>
                  <a:srgbClr val="8E44AD"/>
                </a:solidFill>
                <a:latin typeface="Courier"/>
              </a:rPr>
              <a:t>typeof</a:t>
            </a:r>
            <a:r>
              <a:rPr>
                <a:solidFill>
                  <a:srgbClr val="CFCFC2"/>
                </a:solidFill>
                <a:latin typeface="Courier"/>
              </a:rPr>
              <a:t>(myDouble)</a:t>
            </a:r>
          </a:p>
          <a:p>
            <a:pPr lvl="0" indent="0">
              <a:buNone/>
            </a:pPr>
            <a:r>
              <a:rPr>
                <a:latin typeface="Courier"/>
              </a:rPr>
              <a:t>## [1] "double"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Numeric (Integer)</a:t>
            </a:r>
          </a:p>
        </p:txBody>
      </p:sp>
      <p:sp>
        <p:nvSpPr>
          <p:cNvPr id="3" name="Content Placeholder 2"/>
          <p:cNvSpPr>
            <a:spLocks noGrp="1"/>
          </p:cNvSpPr>
          <p:nvPr>
            <p:ph idx="1"/>
          </p:nvPr>
        </p:nvSpPr>
        <p:spPr/>
        <p:txBody>
          <a:bodyPr/>
          <a:lstStyle/>
          <a:p>
            <a:pPr lvl="0" indent="0">
              <a:buNone/>
            </a:pPr>
            <a:r>
              <a:rPr>
                <a:solidFill>
                  <a:srgbClr val="CFCFC2"/>
                </a:solidFill>
                <a:latin typeface="Courier"/>
              </a:rPr>
              <a:t>myInteger </a:t>
            </a:r>
            <a:r>
              <a:rPr>
                <a:solidFill>
                  <a:srgbClr val="27AE60"/>
                </a:solidFill>
                <a:latin typeface="Courier"/>
              </a:rPr>
              <a:t>&lt;-</a:t>
            </a:r>
            <a:r>
              <a:rPr>
                <a:solidFill>
                  <a:srgbClr val="CFCFC2"/>
                </a:solidFill>
                <a:latin typeface="Courier"/>
              </a:rPr>
              <a:t> 10L</a:t>
            </a:r>
            <a:br/>
            <a:r>
              <a:rPr>
                <a:solidFill>
                  <a:srgbClr val="8E44AD"/>
                </a:solidFill>
                <a:latin typeface="Courier"/>
              </a:rPr>
              <a:t>typeof</a:t>
            </a:r>
            <a:r>
              <a:rPr>
                <a:solidFill>
                  <a:srgbClr val="CFCFC2"/>
                </a:solidFill>
                <a:latin typeface="Courier"/>
              </a:rPr>
              <a:t>(myInteger)</a:t>
            </a:r>
          </a:p>
          <a:p>
            <a:pPr lvl="0" indent="0">
              <a:buNone/>
            </a:pPr>
            <a:r>
              <a:rPr>
                <a:latin typeface="Courier"/>
              </a:rPr>
              <a:t>## [1] "integer"</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Characters</a:t>
            </a:r>
          </a:p>
        </p:txBody>
      </p:sp>
      <p:sp>
        <p:nvSpPr>
          <p:cNvPr id="3" name="Content Placeholder 2"/>
          <p:cNvSpPr>
            <a:spLocks noGrp="1"/>
          </p:cNvSpPr>
          <p:nvPr>
            <p:ph idx="1"/>
          </p:nvPr>
        </p:nvSpPr>
        <p:spPr/>
        <p:txBody>
          <a:bodyPr/>
          <a:lstStyle/>
          <a:p>
            <a:pPr lvl="0"/>
            <a:r>
              <a:rPr>
                <a:latin typeface="Courier"/>
              </a:rPr>
              <a:t>character</a:t>
            </a:r>
            <a:r>
              <a:rPr/>
              <a:t> data always needs to be wrapped in single or double quotations.</a:t>
            </a:r>
          </a:p>
          <a:p>
            <a:pPr lvl="0" indent="0">
              <a:buNone/>
            </a:pPr>
            <a:r>
              <a:rPr>
                <a:solidFill>
                  <a:srgbClr val="CFCFC2"/>
                </a:solidFill>
                <a:latin typeface="Courier"/>
              </a:rPr>
              <a:t>myChar </a:t>
            </a:r>
            <a:r>
              <a:rPr>
                <a:solidFill>
                  <a:srgbClr val="27AE60"/>
                </a:solidFill>
                <a:latin typeface="Courier"/>
              </a:rPr>
              <a:t>&lt;-</a:t>
            </a:r>
            <a:r>
              <a:rPr>
                <a:solidFill>
                  <a:srgbClr val="CFCFC2"/>
                </a:solidFill>
                <a:latin typeface="Courier"/>
              </a:rPr>
              <a:t> </a:t>
            </a:r>
            <a:r>
              <a:rPr>
                <a:solidFill>
                  <a:srgbClr val="F44F4F"/>
                </a:solidFill>
                <a:latin typeface="Courier"/>
              </a:rPr>
              <a:t>"a"</a:t>
            </a:r>
            <a:r>
              <a:rPr>
                <a:solidFill>
                  <a:srgbClr val="CFCFC2"/>
                </a:solidFill>
                <a:latin typeface="Courier"/>
              </a:rPr>
              <a:t> </a:t>
            </a:r>
            <a:r>
              <a:rPr>
                <a:solidFill>
                  <a:srgbClr val="7A7C7D"/>
                </a:solidFill>
                <a:latin typeface="Courier"/>
              </a:rPr>
              <a:t># Note that R does not distinguish between '' and "" but the use has to match</a:t>
            </a:r>
            <a:br/>
            <a:r>
              <a:rPr>
                <a:solidFill>
                  <a:srgbClr val="8E44AD"/>
                </a:solidFill>
                <a:latin typeface="Courier"/>
              </a:rPr>
              <a:t>typeof</a:t>
            </a:r>
            <a:r>
              <a:rPr>
                <a:solidFill>
                  <a:srgbClr val="CFCFC2"/>
                </a:solidFill>
                <a:latin typeface="Courier"/>
              </a:rPr>
              <a:t>(myChar)</a:t>
            </a:r>
          </a:p>
          <a:p>
            <a:pPr lvl="0" indent="0">
              <a:buNone/>
            </a:pPr>
            <a:r>
              <a:rPr>
                <a:latin typeface="Courier"/>
              </a:rPr>
              <a:t>## [1] "character"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Complex</a:t>
            </a:r>
          </a:p>
        </p:txBody>
      </p:sp>
      <p:sp>
        <p:nvSpPr>
          <p:cNvPr id="3" name="Content Placeholder 2"/>
          <p:cNvSpPr>
            <a:spLocks noGrp="1"/>
          </p:cNvSpPr>
          <p:nvPr>
            <p:ph idx="1"/>
          </p:nvPr>
        </p:nvSpPr>
        <p:spPr/>
        <p:txBody>
          <a:bodyPr/>
          <a:lstStyle/>
          <a:p>
            <a:pPr lvl="0" indent="0">
              <a:buNone/>
            </a:pPr>
            <a:r>
              <a:rPr>
                <a:solidFill>
                  <a:srgbClr val="CFCFC2"/>
                </a:solidFill>
                <a:latin typeface="Courier"/>
              </a:rPr>
              <a:t>myComplexNum </a:t>
            </a:r>
            <a:r>
              <a:rPr>
                <a:solidFill>
                  <a:srgbClr val="27AE60"/>
                </a:solidFill>
                <a:latin typeface="Courier"/>
              </a:rPr>
              <a:t>&lt;-</a:t>
            </a:r>
            <a:r>
              <a:rPr>
                <a:solidFill>
                  <a:srgbClr val="CFCFC2"/>
                </a:solidFill>
                <a:latin typeface="Courier"/>
              </a:rPr>
              <a:t> </a:t>
            </a:r>
            <a:r>
              <a:rPr>
                <a:solidFill>
                  <a:srgbClr val="F67400"/>
                </a:solidFill>
                <a:latin typeface="Courier"/>
              </a:rPr>
              <a:t>9</a:t>
            </a:r>
            <a:r>
              <a:rPr>
                <a:solidFill>
                  <a:srgbClr val="CFCFC2"/>
                </a:solidFill>
                <a:latin typeface="Courier"/>
              </a:rPr>
              <a:t> </a:t>
            </a:r>
            <a:r>
              <a:rPr>
                <a:solidFill>
                  <a:srgbClr val="3DAEE9"/>
                </a:solidFill>
                <a:latin typeface="Courier"/>
              </a:rPr>
              <a:t>+</a:t>
            </a:r>
            <a:r>
              <a:rPr>
                <a:solidFill>
                  <a:srgbClr val="CFCFC2"/>
                </a:solidFill>
                <a:latin typeface="Courier"/>
              </a:rPr>
              <a:t> 3i</a:t>
            </a:r>
            <a:br/>
            <a:r>
              <a:rPr>
                <a:solidFill>
                  <a:srgbClr val="8E44AD"/>
                </a:solidFill>
                <a:latin typeface="Courier"/>
              </a:rPr>
              <a:t>typeof</a:t>
            </a:r>
            <a:r>
              <a:rPr>
                <a:solidFill>
                  <a:srgbClr val="CFCFC2"/>
                </a:solidFill>
                <a:latin typeface="Courier"/>
              </a:rPr>
              <a:t>(myComplexNum)</a:t>
            </a:r>
          </a:p>
          <a:p>
            <a:pPr lvl="0" indent="0">
              <a:buNone/>
            </a:pPr>
            <a:r>
              <a:rPr>
                <a:latin typeface="Courier"/>
              </a:rPr>
              <a:t>## [1] "complex"</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Structures</a:t>
            </a:r>
          </a:p>
        </p:txBody>
      </p:sp>
      <p:sp>
        <p:nvSpPr>
          <p:cNvPr id="3" name="Content Placeholder 2"/>
          <p:cNvSpPr>
            <a:spLocks noGrp="1"/>
          </p:cNvSpPr>
          <p:nvPr>
            <p:ph idx="1"/>
          </p:nvPr>
        </p:nvSpPr>
        <p:spPr/>
        <p:txBody>
          <a:bodyPr/>
          <a:lstStyle/>
          <a:p>
            <a:pPr lvl="0" indent="0" marL="0">
              <a:buNone/>
            </a:pPr>
            <a:r>
              <a:rPr/>
              <a:t>Data structures are ways to hold multiple pieces of data together in a meaningful way. R has four convenient ways of storing multiple pieces of data: vectors, matrices, data frames, and lists.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a:t>
            </a:r>
          </a:p>
        </p:txBody>
      </p:sp>
      <p:sp>
        <p:nvSpPr>
          <p:cNvPr id="3" name="Content Placeholder 2"/>
          <p:cNvSpPr>
            <a:spLocks noGrp="1"/>
          </p:cNvSpPr>
          <p:nvPr>
            <p:ph idx="1"/>
          </p:nvPr>
        </p:nvSpPr>
        <p:spPr/>
        <p:txBody>
          <a:bodyPr/>
          <a:lstStyle/>
          <a:p>
            <a:pPr lvl="0" indent="0">
              <a:buNone/>
            </a:pPr>
            <a:r>
              <a:rPr>
                <a:solidFill>
                  <a:srgbClr val="7A7C7D"/>
                </a:solidFill>
                <a:latin typeface="Courier"/>
              </a:rPr>
              <a:t># numeric vector</a:t>
            </a:r>
            <a:br/>
            <a:r>
              <a:rPr>
                <a:solidFill>
                  <a:srgbClr val="8E44AD"/>
                </a:solidFill>
                <a:latin typeface="Courier"/>
              </a:rPr>
              <a:t>c</a:t>
            </a:r>
            <a:r>
              <a:rPr>
                <a:solidFill>
                  <a:srgbClr val="CFCFC2"/>
                </a:solidFill>
                <a:latin typeface="Courier"/>
              </a:rPr>
              <a:t>(</a:t>
            </a:r>
            <a:r>
              <a:rPr>
                <a:solidFill>
                  <a:srgbClr val="F67400"/>
                </a:solidFill>
                <a:latin typeface="Courier"/>
              </a:rPr>
              <a:t>1</a:t>
            </a:r>
            <a:r>
              <a:rPr>
                <a:solidFill>
                  <a:srgbClr val="3DAEE9"/>
                </a:solidFill>
                <a:latin typeface="Courier"/>
              </a:rPr>
              <a:t>:</a:t>
            </a:r>
            <a:r>
              <a:rPr>
                <a:solidFill>
                  <a:srgbClr val="F67400"/>
                </a:solidFill>
                <a:latin typeface="Courier"/>
              </a:rPr>
              <a:t>10</a:t>
            </a:r>
            <a:r>
              <a:rPr>
                <a:solidFill>
                  <a:srgbClr val="CFCFC2"/>
                </a:solidFill>
                <a:latin typeface="Courier"/>
              </a:rPr>
              <a:t>)</a:t>
            </a:r>
          </a:p>
          <a:p>
            <a:pPr lvl="0" indent="0">
              <a:buNone/>
            </a:pPr>
            <a:r>
              <a:rPr>
                <a:latin typeface="Courier"/>
              </a:rPr>
              <a:t>##  [1]  1  2  3  4  5  6  7  8  9 10</a:t>
            </a:r>
          </a:p>
          <a:p>
            <a:pPr lvl="0" indent="0">
              <a:buNone/>
            </a:pPr>
            <a:r>
              <a:rPr>
                <a:solidFill>
                  <a:srgbClr val="7A7C7D"/>
                </a:solidFill>
                <a:latin typeface="Courier"/>
              </a:rPr>
              <a:t># character vector</a:t>
            </a:r>
            <a:br/>
            <a:r>
              <a:rPr>
                <a:solidFill>
                  <a:srgbClr val="8E44AD"/>
                </a:solidFill>
                <a:latin typeface="Courier"/>
              </a:rPr>
              <a:t>c</a:t>
            </a:r>
            <a:r>
              <a:rPr>
                <a:solidFill>
                  <a:srgbClr val="CFCFC2"/>
                </a:solidFill>
                <a:latin typeface="Courier"/>
              </a:rPr>
              <a:t>(</a:t>
            </a:r>
            <a:r>
              <a:rPr>
                <a:solidFill>
                  <a:srgbClr val="F44F4F"/>
                </a:solidFill>
                <a:latin typeface="Courier"/>
              </a:rPr>
              <a:t>"a"</a:t>
            </a:r>
            <a:r>
              <a:rPr>
                <a:solidFill>
                  <a:srgbClr val="CFCFC2"/>
                </a:solidFill>
                <a:latin typeface="Courier"/>
              </a:rPr>
              <a:t>, </a:t>
            </a:r>
            <a:r>
              <a:rPr>
                <a:solidFill>
                  <a:srgbClr val="F44F4F"/>
                </a:solidFill>
                <a:latin typeface="Courier"/>
              </a:rPr>
              <a:t>"b"</a:t>
            </a:r>
            <a:r>
              <a:rPr>
                <a:solidFill>
                  <a:srgbClr val="CFCFC2"/>
                </a:solidFill>
                <a:latin typeface="Courier"/>
              </a:rPr>
              <a:t>, </a:t>
            </a:r>
            <a:r>
              <a:rPr>
                <a:solidFill>
                  <a:srgbClr val="F44F4F"/>
                </a:solidFill>
                <a:latin typeface="Courier"/>
              </a:rPr>
              <a:t>"c"</a:t>
            </a:r>
            <a:r>
              <a:rPr>
                <a:solidFill>
                  <a:srgbClr val="CFCFC2"/>
                </a:solidFill>
                <a:latin typeface="Courier"/>
              </a:rPr>
              <a:t>)</a:t>
            </a:r>
          </a:p>
          <a:p>
            <a:pPr lvl="0" indent="0">
              <a:buNone/>
            </a:pPr>
            <a:r>
              <a:rPr>
                <a:latin typeface="Courier"/>
              </a:rPr>
              <a:t>## [1] "a" "b" "c"</a:t>
            </a:r>
          </a:p>
          <a:p>
            <a:pPr lvl="0" indent="0">
              <a:buNone/>
            </a:pPr>
            <a:r>
              <a:rPr>
                <a:solidFill>
                  <a:srgbClr val="7A7C7D"/>
                </a:solidFill>
                <a:latin typeface="Courier"/>
              </a:rPr>
              <a:t># logical vector</a:t>
            </a:r>
            <a:br/>
            <a:r>
              <a:rPr>
                <a:solidFill>
                  <a:srgbClr val="8E44AD"/>
                </a:solidFill>
                <a:latin typeface="Courier"/>
              </a:rPr>
              <a:t>c</a:t>
            </a:r>
            <a:r>
              <a:rPr>
                <a:solidFill>
                  <a:srgbClr val="CFCFC2"/>
                </a:solidFill>
                <a:latin typeface="Courier"/>
              </a:rPr>
              <a:t>(</a:t>
            </a:r>
            <a:r>
              <a:rPr b="1">
                <a:solidFill>
                  <a:srgbClr val="27AEAE"/>
                </a:solidFill>
                <a:latin typeface="Courier"/>
              </a:rPr>
              <a:t>TRUE</a:t>
            </a:r>
            <a:r>
              <a:rPr>
                <a:solidFill>
                  <a:srgbClr val="CFCFC2"/>
                </a:solidFill>
                <a:latin typeface="Courier"/>
              </a:rPr>
              <a:t>, </a:t>
            </a:r>
            <a:r>
              <a:rPr b="1">
                <a:solidFill>
                  <a:srgbClr val="27AEAE"/>
                </a:solidFill>
                <a:latin typeface="Courier"/>
              </a:rPr>
              <a:t>TRUE</a:t>
            </a:r>
            <a:r>
              <a:rPr>
                <a:solidFill>
                  <a:srgbClr val="CFCFC2"/>
                </a:solidFill>
                <a:latin typeface="Courier"/>
              </a:rPr>
              <a:t>, </a:t>
            </a:r>
            <a:r>
              <a:rPr b="1">
                <a:solidFill>
                  <a:srgbClr val="27AEAE"/>
                </a:solidFill>
                <a:latin typeface="Courier"/>
              </a:rPr>
              <a:t>FALSE</a:t>
            </a:r>
            <a:r>
              <a:rPr>
                <a:solidFill>
                  <a:srgbClr val="CFCFC2"/>
                </a:solidFill>
                <a:latin typeface="Courier"/>
              </a:rPr>
              <a:t>)</a:t>
            </a:r>
          </a:p>
          <a:p>
            <a:pPr lvl="0" indent="0">
              <a:buNone/>
            </a:pPr>
            <a:r>
              <a:rPr>
                <a:latin typeface="Courier"/>
              </a:rPr>
              <a:t>## [1]  TRUE  TRUE FALSE</a:t>
            </a:r>
          </a:p>
          <a:p>
            <a:pPr lvl="0" indent="0">
              <a:buNone/>
            </a:pPr>
            <a:r>
              <a:rPr>
                <a:solidFill>
                  <a:srgbClr val="7A7C7D"/>
                </a:solidFill>
                <a:latin typeface="Courier"/>
              </a:rPr>
              <a:t># note that vectors do not allow you to mix types</a:t>
            </a:r>
            <a:br/>
            <a:r>
              <a:rPr>
                <a:solidFill>
                  <a:srgbClr val="7A7C7D"/>
                </a:solidFill>
                <a:latin typeface="Courier"/>
              </a:rPr>
              <a:t># c(TRUE, 10) # this will convert TRUE to 1</a:t>
            </a:r>
            <a:br/>
            <a:r>
              <a:rPr>
                <a:solidFill>
                  <a:srgbClr val="7A7C7D"/>
                </a:solidFill>
                <a:latin typeface="Courier"/>
              </a:rPr>
              <a:t># c(TRUE, "10") # this will convert TRUE to "TRUE"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Matrices</a:t>
            </a:r>
          </a:p>
        </p:txBody>
      </p:sp>
      <p:sp>
        <p:nvSpPr>
          <p:cNvPr id="3" name="Content Placeholder 2"/>
          <p:cNvSpPr>
            <a:spLocks noGrp="1"/>
          </p:cNvSpPr>
          <p:nvPr>
            <p:ph idx="1"/>
          </p:nvPr>
        </p:nvSpPr>
        <p:spPr/>
        <p:txBody>
          <a:bodyPr/>
          <a:lstStyle/>
          <a:p>
            <a:pPr lvl="0" indent="0">
              <a:buNone/>
            </a:pPr>
            <a:r>
              <a:rPr>
                <a:solidFill>
                  <a:srgbClr val="8E44AD"/>
                </a:solidFill>
                <a:latin typeface="Courier"/>
              </a:rPr>
              <a:t>matrix</a:t>
            </a:r>
            <a:r>
              <a:rPr>
                <a:solidFill>
                  <a:srgbClr val="CFCFC2"/>
                </a:solidFill>
                <a:latin typeface="Courier"/>
              </a:rPr>
              <a:t>(</a:t>
            </a:r>
            <a:r>
              <a:rPr>
                <a:solidFill>
                  <a:srgbClr val="F67400"/>
                </a:solidFill>
                <a:latin typeface="Courier"/>
              </a:rPr>
              <a:t>1</a:t>
            </a:r>
            <a:r>
              <a:rPr>
                <a:solidFill>
                  <a:srgbClr val="3DAEE9"/>
                </a:solidFill>
                <a:latin typeface="Courier"/>
              </a:rPr>
              <a:t>:</a:t>
            </a:r>
            <a:r>
              <a:rPr>
                <a:solidFill>
                  <a:srgbClr val="F67400"/>
                </a:solidFill>
                <a:latin typeface="Courier"/>
              </a:rPr>
              <a:t>10</a:t>
            </a:r>
            <a:r>
              <a:rPr>
                <a:solidFill>
                  <a:srgbClr val="CFCFC2"/>
                </a:solidFill>
                <a:latin typeface="Courier"/>
              </a:rPr>
              <a:t>, </a:t>
            </a:r>
            <a:r>
              <a:rPr>
                <a:solidFill>
                  <a:srgbClr val="2980B9"/>
                </a:solidFill>
                <a:latin typeface="Courier"/>
              </a:rPr>
              <a:t>nrow =</a:t>
            </a:r>
            <a:r>
              <a:rPr>
                <a:solidFill>
                  <a:srgbClr val="CFCFC2"/>
                </a:solidFill>
                <a:latin typeface="Courier"/>
              </a:rPr>
              <a:t> </a:t>
            </a:r>
            <a:r>
              <a:rPr>
                <a:solidFill>
                  <a:srgbClr val="F67400"/>
                </a:solidFill>
                <a:latin typeface="Courier"/>
              </a:rPr>
              <a:t>2</a:t>
            </a:r>
            <a:r>
              <a:rPr>
                <a:solidFill>
                  <a:srgbClr val="CFCFC2"/>
                </a:solidFill>
                <a:latin typeface="Courier"/>
              </a:rPr>
              <a:t>)</a:t>
            </a:r>
          </a:p>
          <a:p>
            <a:pPr lvl="0" indent="0">
              <a:buNone/>
            </a:pPr>
            <a:r>
              <a:rPr>
                <a:latin typeface="Courier"/>
              </a:rPr>
              <a:t>##      [,1] [,2] [,3] [,4] [,5]
## [1,]    1    3    5    7    9
## [2,]    2    4    6    8   10</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frames</a:t>
            </a:r>
          </a:p>
        </p:txBody>
      </p:sp>
      <p:sp>
        <p:nvSpPr>
          <p:cNvPr id="3" name="Content Placeholder 2"/>
          <p:cNvSpPr>
            <a:spLocks noGrp="1"/>
          </p:cNvSpPr>
          <p:nvPr>
            <p:ph idx="1"/>
          </p:nvPr>
        </p:nvSpPr>
        <p:spPr/>
        <p:txBody>
          <a:bodyPr/>
          <a:lstStyle/>
          <a:p>
            <a:pPr lvl="0" indent="0">
              <a:buNone/>
            </a:pPr>
            <a:r>
              <a:rPr>
                <a:solidFill>
                  <a:srgbClr val="8E44AD"/>
                </a:solidFill>
                <a:latin typeface="Courier"/>
              </a:rPr>
              <a:t>data.frame</a:t>
            </a:r>
            <a:r>
              <a:rPr>
                <a:solidFill>
                  <a:srgbClr val="CFCFC2"/>
                </a:solidFill>
                <a:latin typeface="Courier"/>
              </a:rPr>
              <a:t>(</a:t>
            </a:r>
            <a:r>
              <a:rPr>
                <a:solidFill>
                  <a:srgbClr val="2980B9"/>
                </a:solidFill>
                <a:latin typeface="Courier"/>
              </a:rPr>
              <a:t>letter =</a:t>
            </a:r>
            <a:r>
              <a:rPr>
                <a:solidFill>
                  <a:srgbClr val="CFCFC2"/>
                </a:solidFill>
                <a:latin typeface="Courier"/>
              </a:rPr>
              <a:t> letters[</a:t>
            </a:r>
            <a:r>
              <a:rPr>
                <a:solidFill>
                  <a:srgbClr val="F67400"/>
                </a:solidFill>
                <a:latin typeface="Courier"/>
              </a:rPr>
              <a:t>1</a:t>
            </a:r>
            <a:r>
              <a:rPr>
                <a:solidFill>
                  <a:srgbClr val="3DAEE9"/>
                </a:solidFill>
                <a:latin typeface="Courier"/>
              </a:rPr>
              <a:t>:</a:t>
            </a:r>
            <a:r>
              <a:rPr>
                <a:solidFill>
                  <a:srgbClr val="F67400"/>
                </a:solidFill>
                <a:latin typeface="Courier"/>
              </a:rPr>
              <a:t>5</a:t>
            </a:r>
            <a:r>
              <a:rPr>
                <a:solidFill>
                  <a:srgbClr val="CFCFC2"/>
                </a:solidFill>
                <a:latin typeface="Courier"/>
              </a:rPr>
              <a:t>],</a:t>
            </a:r>
            <a:br/>
            <a:r>
              <a:rPr>
                <a:solidFill>
                  <a:srgbClr val="CFCFC2"/>
                </a:solidFill>
                <a:latin typeface="Courier"/>
              </a:rPr>
              <a:t>           </a:t>
            </a:r>
            <a:r>
              <a:rPr>
                <a:solidFill>
                  <a:srgbClr val="2980B9"/>
                </a:solidFill>
                <a:latin typeface="Courier"/>
              </a:rPr>
              <a:t>nol =</a:t>
            </a:r>
            <a:r>
              <a:rPr>
                <a:solidFill>
                  <a:srgbClr val="CFCFC2"/>
                </a:solidFill>
                <a:latin typeface="Courier"/>
              </a:rPr>
              <a:t> </a:t>
            </a:r>
            <a:r>
              <a:rPr>
                <a:solidFill>
                  <a:srgbClr val="F67400"/>
                </a:solidFill>
                <a:latin typeface="Courier"/>
              </a:rPr>
              <a:t>1</a:t>
            </a:r>
            <a:r>
              <a:rPr>
                <a:solidFill>
                  <a:srgbClr val="3DAEE9"/>
                </a:solidFill>
                <a:latin typeface="Courier"/>
              </a:rPr>
              <a:t>:</a:t>
            </a:r>
            <a:r>
              <a:rPr>
                <a:solidFill>
                  <a:srgbClr val="F67400"/>
                </a:solidFill>
                <a:latin typeface="Courier"/>
              </a:rPr>
              <a:t>5</a:t>
            </a:r>
            <a:r>
              <a:rPr>
                <a:solidFill>
                  <a:srgbClr val="CFCFC2"/>
                </a:solidFill>
                <a:latin typeface="Courier"/>
              </a:rPr>
              <a:t>) </a:t>
            </a:r>
            <a:r>
              <a:rPr>
                <a:solidFill>
                  <a:srgbClr val="7A7C7D"/>
                </a:solidFill>
                <a:latin typeface="Courier"/>
              </a:rPr>
              <a:t># nol mean number of letter</a:t>
            </a:r>
          </a:p>
          <a:p>
            <a:pPr lvl="0" indent="0">
              <a:buNone/>
            </a:pPr>
            <a:r>
              <a:rPr>
                <a:latin typeface="Courier"/>
              </a:rPr>
              <a:t>##   letter nol
## 1      a   1
## 2      b   2
## 3      c   3
## 4      d   4
## 5      e   5</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Lists</a:t>
            </a:r>
          </a:p>
        </p:txBody>
      </p:sp>
      <p:sp>
        <p:nvSpPr>
          <p:cNvPr id="3" name="Content Placeholder 2"/>
          <p:cNvSpPr>
            <a:spLocks noGrp="1"/>
          </p:cNvSpPr>
          <p:nvPr>
            <p:ph idx="1"/>
          </p:nvPr>
        </p:nvSpPr>
        <p:spPr/>
        <p:txBody>
          <a:bodyPr/>
          <a:lstStyle/>
          <a:p>
            <a:pPr lvl="0" indent="0">
              <a:buNone/>
            </a:pPr>
            <a:r>
              <a:rPr>
                <a:solidFill>
                  <a:srgbClr val="8E44AD"/>
                </a:solidFill>
                <a:latin typeface="Courier"/>
              </a:rPr>
              <a:t>list</a:t>
            </a:r>
            <a:r>
              <a:rPr>
                <a:solidFill>
                  <a:srgbClr val="CFCFC2"/>
                </a:solidFill>
                <a:latin typeface="Courier"/>
              </a:rPr>
              <a:t>(</a:t>
            </a:r>
            <a:r>
              <a:rPr>
                <a:solidFill>
                  <a:srgbClr val="2980B9"/>
                </a:solidFill>
                <a:latin typeface="Courier"/>
              </a:rPr>
              <a:t>item_1 =</a:t>
            </a:r>
            <a:r>
              <a:rPr>
                <a:solidFill>
                  <a:srgbClr val="CFCFC2"/>
                </a:solidFill>
                <a:latin typeface="Courier"/>
              </a:rPr>
              <a:t> myAlphabet,</a:t>
            </a:r>
            <a:br/>
            <a:r>
              <a:rPr>
                <a:solidFill>
                  <a:srgbClr val="CFCFC2"/>
                </a:solidFill>
                <a:latin typeface="Courier"/>
              </a:rPr>
              <a:t>     </a:t>
            </a:r>
            <a:r>
              <a:rPr>
                <a:solidFill>
                  <a:srgbClr val="2980B9"/>
                </a:solidFill>
                <a:latin typeface="Courier"/>
              </a:rPr>
              <a:t>item_2 =</a:t>
            </a:r>
            <a:r>
              <a:rPr>
                <a:solidFill>
                  <a:srgbClr val="CFCFC2"/>
                </a:solidFill>
                <a:latin typeface="Courier"/>
              </a:rPr>
              <a:t> </a:t>
            </a:r>
            <a:r>
              <a:rPr>
                <a:solidFill>
                  <a:srgbClr val="8E44AD"/>
                </a:solidFill>
                <a:latin typeface="Courier"/>
              </a:rPr>
              <a:t>c</a:t>
            </a:r>
            <a:r>
              <a:rPr>
                <a:solidFill>
                  <a:srgbClr val="CFCFC2"/>
                </a:solidFill>
                <a:latin typeface="Courier"/>
              </a:rPr>
              <a:t>(</a:t>
            </a:r>
            <a:r>
              <a:rPr>
                <a:solidFill>
                  <a:srgbClr val="F67400"/>
                </a:solidFill>
                <a:latin typeface="Courier"/>
              </a:rPr>
              <a:t>1</a:t>
            </a:r>
            <a:r>
              <a:rPr>
                <a:solidFill>
                  <a:srgbClr val="3DAEE9"/>
                </a:solidFill>
                <a:latin typeface="Courier"/>
              </a:rPr>
              <a:t>:</a:t>
            </a:r>
            <a:r>
              <a:rPr>
                <a:solidFill>
                  <a:srgbClr val="F67400"/>
                </a:solidFill>
                <a:latin typeface="Courier"/>
              </a:rPr>
              <a:t>3</a:t>
            </a:r>
            <a:r>
              <a:rPr>
                <a:solidFill>
                  <a:srgbClr val="CFCFC2"/>
                </a:solidFill>
                <a:latin typeface="Courier"/>
              </a:rPr>
              <a:t>))</a:t>
            </a:r>
          </a:p>
          <a:p>
            <a:pPr lvl="0" indent="0">
              <a:buNone/>
            </a:pPr>
            <a:r>
              <a:rPr>
                <a:latin typeface="Courier"/>
              </a:rPr>
              <a:t>## $item_1
## [1] "a" "b" "c" "d" "e"
## 
## $item_2
## [1] 1 2 3</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Arrays</a:t>
            </a:r>
          </a:p>
        </p:txBody>
      </p:sp>
      <p:sp>
        <p:nvSpPr>
          <p:cNvPr id="3" name="Content Placeholder 2"/>
          <p:cNvSpPr>
            <a:spLocks noGrp="1"/>
          </p:cNvSpPr>
          <p:nvPr>
            <p:ph idx="1"/>
          </p:nvPr>
        </p:nvSpPr>
        <p:spPr/>
        <p:txBody>
          <a:bodyPr/>
          <a:lstStyle/>
          <a:p>
            <a:pPr lvl="0" indent="0">
              <a:buNone/>
            </a:pPr>
            <a:r>
              <a:rPr>
                <a:solidFill>
                  <a:srgbClr val="8E44AD"/>
                </a:solidFill>
                <a:latin typeface="Courier"/>
              </a:rPr>
              <a:t>array</a:t>
            </a:r>
            <a:r>
              <a:rPr>
                <a:solidFill>
                  <a:srgbClr val="CFCFC2"/>
                </a:solidFill>
                <a:latin typeface="Courier"/>
              </a:rPr>
              <a:t>(</a:t>
            </a:r>
            <a:r>
              <a:rPr>
                <a:solidFill>
                  <a:srgbClr val="8E44AD"/>
                </a:solidFill>
                <a:latin typeface="Courier"/>
              </a:rPr>
              <a:t>c</a:t>
            </a:r>
            <a:r>
              <a:rPr>
                <a:solidFill>
                  <a:srgbClr val="CFCFC2"/>
                </a:solidFill>
                <a:latin typeface="Courier"/>
              </a:rPr>
              <a:t>(</a:t>
            </a:r>
            <a:r>
              <a:rPr>
                <a:solidFill>
                  <a:srgbClr val="F67400"/>
                </a:solidFill>
                <a:latin typeface="Courier"/>
              </a:rPr>
              <a:t>1</a:t>
            </a:r>
            <a:r>
              <a:rPr>
                <a:solidFill>
                  <a:srgbClr val="CFCFC2"/>
                </a:solidFill>
                <a:latin typeface="Courier"/>
              </a:rPr>
              <a:t>, </a:t>
            </a:r>
            <a:r>
              <a:rPr>
                <a:solidFill>
                  <a:srgbClr val="F67400"/>
                </a:solidFill>
                <a:latin typeface="Courier"/>
              </a:rPr>
              <a:t>2</a:t>
            </a:r>
            <a:r>
              <a:rPr>
                <a:solidFill>
                  <a:srgbClr val="CFCFC2"/>
                </a:solidFill>
                <a:latin typeface="Courier"/>
              </a:rPr>
              <a:t>, </a:t>
            </a:r>
            <a:r>
              <a:rPr>
                <a:solidFill>
                  <a:srgbClr val="F67400"/>
                </a:solidFill>
                <a:latin typeface="Courier"/>
              </a:rPr>
              <a:t>3</a:t>
            </a:r>
            <a:r>
              <a:rPr>
                <a:solidFill>
                  <a:srgbClr val="CFCFC2"/>
                </a:solidFill>
                <a:latin typeface="Courier"/>
              </a:rPr>
              <a:t>, </a:t>
            </a:r>
            <a:r>
              <a:rPr>
                <a:solidFill>
                  <a:srgbClr val="F67400"/>
                </a:solidFill>
                <a:latin typeface="Courier"/>
              </a:rPr>
              <a:t>4</a:t>
            </a:r>
            <a:r>
              <a:rPr>
                <a:solidFill>
                  <a:srgbClr val="CFCFC2"/>
                </a:solidFill>
                <a:latin typeface="Courier"/>
              </a:rPr>
              <a:t>), </a:t>
            </a:r>
            <a:r>
              <a:rPr>
                <a:solidFill>
                  <a:srgbClr val="2980B9"/>
                </a:solidFill>
                <a:latin typeface="Courier"/>
              </a:rPr>
              <a:t>dim =</a:t>
            </a:r>
            <a:r>
              <a:rPr>
                <a:solidFill>
                  <a:srgbClr val="CFCFC2"/>
                </a:solidFill>
                <a:latin typeface="Courier"/>
              </a:rPr>
              <a:t> </a:t>
            </a:r>
            <a:r>
              <a:rPr>
                <a:solidFill>
                  <a:srgbClr val="8E44AD"/>
                </a:solidFill>
                <a:latin typeface="Courier"/>
              </a:rPr>
              <a:t>c</a:t>
            </a:r>
            <a:r>
              <a:rPr>
                <a:solidFill>
                  <a:srgbClr val="CFCFC2"/>
                </a:solidFill>
                <a:latin typeface="Courier"/>
              </a:rPr>
              <a:t>(</a:t>
            </a:r>
            <a:r>
              <a:rPr>
                <a:solidFill>
                  <a:srgbClr val="F67400"/>
                </a:solidFill>
                <a:latin typeface="Courier"/>
              </a:rPr>
              <a:t>1</a:t>
            </a:r>
            <a:r>
              <a:rPr>
                <a:solidFill>
                  <a:srgbClr val="CFCFC2"/>
                </a:solidFill>
                <a:latin typeface="Courier"/>
              </a:rPr>
              <a:t>, </a:t>
            </a:r>
            <a:r>
              <a:rPr>
                <a:solidFill>
                  <a:srgbClr val="F67400"/>
                </a:solidFill>
                <a:latin typeface="Courier"/>
              </a:rPr>
              <a:t>2</a:t>
            </a:r>
            <a:r>
              <a:rPr>
                <a:solidFill>
                  <a:srgbClr val="CFCFC2"/>
                </a:solidFill>
                <a:latin typeface="Courier"/>
              </a:rPr>
              <a:t>, </a:t>
            </a:r>
            <a:r>
              <a:rPr>
                <a:solidFill>
                  <a:srgbClr val="F67400"/>
                </a:solidFill>
                <a:latin typeface="Courier"/>
              </a:rPr>
              <a:t>2</a:t>
            </a:r>
            <a:r>
              <a:rPr>
                <a:solidFill>
                  <a:srgbClr val="CFCFC2"/>
                </a:solidFill>
                <a:latin typeface="Courier"/>
              </a:rPr>
              <a:t>))</a:t>
            </a:r>
          </a:p>
          <a:p>
            <a:pPr lvl="0" indent="0">
              <a:buNone/>
            </a:pPr>
            <a:r>
              <a:rPr>
                <a:latin typeface="Courier"/>
              </a:rPr>
              <a:t>## , , 1
## 
##      [,1] [,2]
## [1,]    1    2
## 
## , , 2
## 
##      [,1] [,2]
## [1,]    3    4</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Identifying Data Structures</a:t>
            </a:r>
          </a:p>
        </p:txBody>
      </p:sp>
      <p:sp>
        <p:nvSpPr>
          <p:cNvPr id="3" name="Content Placeholder 2"/>
          <p:cNvSpPr>
            <a:spLocks noGrp="1"/>
          </p:cNvSpPr>
          <p:nvPr>
            <p:ph idx="1"/>
          </p:nvPr>
        </p:nvSpPr>
        <p:spPr/>
        <p:txBody>
          <a:bodyPr/>
          <a:lstStyle/>
          <a:p>
            <a:pPr lvl="0" indent="0">
              <a:buNone/>
            </a:pPr>
            <a:r>
              <a:rPr>
                <a:solidFill>
                  <a:srgbClr val="8E44AD"/>
                </a:solidFill>
                <a:latin typeface="Courier"/>
              </a:rPr>
              <a:t>class</a:t>
            </a:r>
            <a:r>
              <a:rPr>
                <a:solidFill>
                  <a:srgbClr val="CFCFC2"/>
                </a:solidFill>
                <a:latin typeface="Courier"/>
              </a:rPr>
              <a:t>(</a:t>
            </a:r>
            <a:r>
              <a:rPr>
                <a:solidFill>
                  <a:srgbClr val="8E44AD"/>
                </a:solidFill>
                <a:latin typeface="Courier"/>
              </a:rPr>
              <a:t>c</a:t>
            </a:r>
            <a:r>
              <a:rPr>
                <a:solidFill>
                  <a:srgbClr val="CFCFC2"/>
                </a:solidFill>
                <a:latin typeface="Courier"/>
              </a:rPr>
              <a:t>(</a:t>
            </a:r>
            <a:r>
              <a:rPr>
                <a:solidFill>
                  <a:srgbClr val="F67400"/>
                </a:solidFill>
                <a:latin typeface="Courier"/>
              </a:rPr>
              <a:t>1</a:t>
            </a:r>
            <a:r>
              <a:rPr>
                <a:solidFill>
                  <a:srgbClr val="3DAEE9"/>
                </a:solidFill>
                <a:latin typeface="Courier"/>
              </a:rPr>
              <a:t>:</a:t>
            </a:r>
            <a:r>
              <a:rPr>
                <a:solidFill>
                  <a:srgbClr val="F67400"/>
                </a:solidFill>
                <a:latin typeface="Courier"/>
              </a:rPr>
              <a:t>10</a:t>
            </a:r>
            <a:r>
              <a:rPr>
                <a:solidFill>
                  <a:srgbClr val="CFCFC2"/>
                </a:solidFill>
                <a:latin typeface="Courier"/>
              </a:rPr>
              <a:t>))</a:t>
            </a:r>
          </a:p>
          <a:p>
            <a:pPr lvl="0" indent="0">
              <a:buNone/>
            </a:pPr>
            <a:r>
              <a:rPr>
                <a:latin typeface="Courier"/>
              </a:rPr>
              <a:t>## [1] "integer"</a:t>
            </a:r>
          </a:p>
          <a:p>
            <a:pPr lvl="0" indent="0">
              <a:buNone/>
            </a:pPr>
            <a:r>
              <a:rPr>
                <a:solidFill>
                  <a:srgbClr val="8E44AD"/>
                </a:solidFill>
                <a:latin typeface="Courier"/>
              </a:rPr>
              <a:t>class</a:t>
            </a:r>
            <a:r>
              <a:rPr>
                <a:solidFill>
                  <a:srgbClr val="CFCFC2"/>
                </a:solidFill>
                <a:latin typeface="Courier"/>
              </a:rPr>
              <a:t>(</a:t>
            </a:r>
            <a:r>
              <a:rPr>
                <a:solidFill>
                  <a:srgbClr val="8E44AD"/>
                </a:solidFill>
                <a:latin typeface="Courier"/>
              </a:rPr>
              <a:t>matrix</a:t>
            </a:r>
            <a:r>
              <a:rPr>
                <a:solidFill>
                  <a:srgbClr val="CFCFC2"/>
                </a:solidFill>
                <a:latin typeface="Courier"/>
              </a:rPr>
              <a:t>(</a:t>
            </a:r>
            <a:r>
              <a:rPr>
                <a:solidFill>
                  <a:srgbClr val="F67400"/>
                </a:solidFill>
                <a:latin typeface="Courier"/>
              </a:rPr>
              <a:t>1</a:t>
            </a:r>
            <a:r>
              <a:rPr>
                <a:solidFill>
                  <a:srgbClr val="3DAEE9"/>
                </a:solidFill>
                <a:latin typeface="Courier"/>
              </a:rPr>
              <a:t>:</a:t>
            </a:r>
            <a:r>
              <a:rPr>
                <a:solidFill>
                  <a:srgbClr val="F67400"/>
                </a:solidFill>
                <a:latin typeface="Courier"/>
              </a:rPr>
              <a:t>10</a:t>
            </a:r>
            <a:r>
              <a:rPr>
                <a:solidFill>
                  <a:srgbClr val="CFCFC2"/>
                </a:solidFill>
                <a:latin typeface="Courier"/>
              </a:rPr>
              <a:t>, </a:t>
            </a:r>
            <a:r>
              <a:rPr>
                <a:solidFill>
                  <a:srgbClr val="2980B9"/>
                </a:solidFill>
                <a:latin typeface="Courier"/>
              </a:rPr>
              <a:t>ncol =</a:t>
            </a:r>
            <a:r>
              <a:rPr>
                <a:solidFill>
                  <a:srgbClr val="CFCFC2"/>
                </a:solidFill>
                <a:latin typeface="Courier"/>
              </a:rPr>
              <a:t> </a:t>
            </a:r>
            <a:r>
              <a:rPr>
                <a:solidFill>
                  <a:srgbClr val="F67400"/>
                </a:solidFill>
                <a:latin typeface="Courier"/>
              </a:rPr>
              <a:t>2</a:t>
            </a:r>
            <a:r>
              <a:rPr>
                <a:solidFill>
                  <a:srgbClr val="CFCFC2"/>
                </a:solidFill>
                <a:latin typeface="Courier"/>
              </a:rPr>
              <a:t>))</a:t>
            </a:r>
          </a:p>
          <a:p>
            <a:pPr lvl="0" indent="0">
              <a:buNone/>
            </a:pPr>
            <a:r>
              <a:rPr>
                <a:latin typeface="Courier"/>
              </a:rPr>
              <a:t>## [1] "matrix" "array"</a:t>
            </a:r>
          </a:p>
          <a:p>
            <a:pPr lvl="0" indent="0">
              <a:buNone/>
            </a:pPr>
            <a:r>
              <a:rPr>
                <a:solidFill>
                  <a:srgbClr val="8E44AD"/>
                </a:solidFill>
                <a:latin typeface="Courier"/>
              </a:rPr>
              <a:t>class</a:t>
            </a:r>
            <a:r>
              <a:rPr>
                <a:solidFill>
                  <a:srgbClr val="CFCFC2"/>
                </a:solidFill>
                <a:latin typeface="Courier"/>
              </a:rPr>
              <a:t>(</a:t>
            </a:r>
            <a:r>
              <a:rPr>
                <a:solidFill>
                  <a:srgbClr val="8E44AD"/>
                </a:solidFill>
                <a:latin typeface="Courier"/>
              </a:rPr>
              <a:t>data.frame</a:t>
            </a:r>
            <a:r>
              <a:rPr>
                <a:solidFill>
                  <a:srgbClr val="CFCFC2"/>
                </a:solidFill>
                <a:latin typeface="Courier"/>
              </a:rPr>
              <a:t>(</a:t>
            </a:r>
            <a:r>
              <a:rPr>
                <a:solidFill>
                  <a:srgbClr val="2980B9"/>
                </a:solidFill>
                <a:latin typeface="Courier"/>
              </a:rPr>
              <a:t>var_1 =</a:t>
            </a:r>
            <a:r>
              <a:rPr>
                <a:solidFill>
                  <a:srgbClr val="CFCFC2"/>
                </a:solidFill>
                <a:latin typeface="Courier"/>
              </a:rPr>
              <a:t> letters,</a:t>
            </a:r>
            <a:r>
              <a:rPr>
                <a:solidFill>
                  <a:srgbClr val="2980B9"/>
                </a:solidFill>
                <a:latin typeface="Courier"/>
              </a:rPr>
              <a:t>var_2 =</a:t>
            </a:r>
            <a:r>
              <a:rPr>
                <a:solidFill>
                  <a:srgbClr val="CFCFC2"/>
                </a:solidFill>
                <a:latin typeface="Courier"/>
              </a:rPr>
              <a:t> </a:t>
            </a:r>
            <a:r>
              <a:rPr>
                <a:solidFill>
                  <a:srgbClr val="F67400"/>
                </a:solidFill>
                <a:latin typeface="Courier"/>
              </a:rPr>
              <a:t>1</a:t>
            </a:r>
            <a:r>
              <a:rPr>
                <a:solidFill>
                  <a:srgbClr val="3DAEE9"/>
                </a:solidFill>
                <a:latin typeface="Courier"/>
              </a:rPr>
              <a:t>:</a:t>
            </a:r>
            <a:r>
              <a:rPr>
                <a:solidFill>
                  <a:srgbClr val="F67400"/>
                </a:solidFill>
                <a:latin typeface="Courier"/>
              </a:rPr>
              <a:t>26</a:t>
            </a:r>
            <a:r>
              <a:rPr>
                <a:solidFill>
                  <a:srgbClr val="CFCFC2"/>
                </a:solidFill>
                <a:latin typeface="Courier"/>
              </a:rPr>
              <a:t>))</a:t>
            </a:r>
          </a:p>
          <a:p>
            <a:pPr lvl="0" indent="0">
              <a:buNone/>
            </a:pPr>
            <a:r>
              <a:rPr>
                <a:latin typeface="Courier"/>
              </a:rPr>
              <a:t>## [1] "data.frame"</a:t>
            </a:r>
          </a:p>
          <a:p>
            <a:pPr lvl="0" indent="0">
              <a:buNone/>
            </a:pPr>
            <a:r>
              <a:rPr>
                <a:solidFill>
                  <a:srgbClr val="8E44AD"/>
                </a:solidFill>
                <a:latin typeface="Courier"/>
              </a:rPr>
              <a:t>class</a:t>
            </a:r>
            <a:r>
              <a:rPr>
                <a:solidFill>
                  <a:srgbClr val="CFCFC2"/>
                </a:solidFill>
                <a:latin typeface="Courier"/>
              </a:rPr>
              <a:t>(</a:t>
            </a:r>
            <a:r>
              <a:rPr>
                <a:solidFill>
                  <a:srgbClr val="8E44AD"/>
                </a:solidFill>
                <a:latin typeface="Courier"/>
              </a:rPr>
              <a:t>list</a:t>
            </a:r>
            <a:r>
              <a:rPr>
                <a:solidFill>
                  <a:srgbClr val="CFCFC2"/>
                </a:solidFill>
                <a:latin typeface="Courier"/>
              </a:rPr>
              <a:t>(</a:t>
            </a:r>
            <a:r>
              <a:rPr>
                <a:solidFill>
                  <a:srgbClr val="2980B9"/>
                </a:solidFill>
                <a:latin typeface="Courier"/>
              </a:rPr>
              <a:t>item_1 =</a:t>
            </a:r>
            <a:r>
              <a:rPr>
                <a:solidFill>
                  <a:srgbClr val="CFCFC2"/>
                </a:solidFill>
                <a:latin typeface="Courier"/>
              </a:rPr>
              <a:t> letters,</a:t>
            </a:r>
            <a:r>
              <a:rPr>
                <a:solidFill>
                  <a:srgbClr val="2980B9"/>
                </a:solidFill>
                <a:latin typeface="Courier"/>
              </a:rPr>
              <a:t>item_2 =</a:t>
            </a:r>
            <a:r>
              <a:rPr>
                <a:solidFill>
                  <a:srgbClr val="CFCFC2"/>
                </a:solidFill>
                <a:latin typeface="Courier"/>
              </a:rPr>
              <a:t> </a:t>
            </a:r>
            <a:r>
              <a:rPr>
                <a:solidFill>
                  <a:srgbClr val="F67400"/>
                </a:solidFill>
                <a:latin typeface="Courier"/>
              </a:rPr>
              <a:t>1</a:t>
            </a:r>
            <a:r>
              <a:rPr>
                <a:solidFill>
                  <a:srgbClr val="3DAEE9"/>
                </a:solidFill>
                <a:latin typeface="Courier"/>
              </a:rPr>
              <a:t>:</a:t>
            </a:r>
            <a:r>
              <a:rPr>
                <a:solidFill>
                  <a:srgbClr val="F67400"/>
                </a:solidFill>
                <a:latin typeface="Courier"/>
              </a:rPr>
              <a:t>10</a:t>
            </a:r>
            <a:r>
              <a:rPr>
                <a:solidFill>
                  <a:srgbClr val="CFCFC2"/>
                </a:solidFill>
                <a:latin typeface="Courier"/>
              </a:rPr>
              <a:t>,</a:t>
            </a:r>
            <a:r>
              <a:rPr>
                <a:solidFill>
                  <a:srgbClr val="2980B9"/>
                </a:solidFill>
                <a:latin typeface="Courier"/>
              </a:rPr>
              <a:t>item_3 =</a:t>
            </a:r>
            <a:r>
              <a:rPr>
                <a:solidFill>
                  <a:srgbClr val="CFCFC2"/>
                </a:solidFill>
                <a:latin typeface="Courier"/>
              </a:rPr>
              <a:t> </a:t>
            </a:r>
            <a:r>
              <a:rPr>
                <a:solidFill>
                  <a:srgbClr val="8E44AD"/>
                </a:solidFill>
                <a:latin typeface="Courier"/>
              </a:rPr>
              <a:t>c</a:t>
            </a:r>
            <a:r>
              <a:rPr>
                <a:solidFill>
                  <a:srgbClr val="CFCFC2"/>
                </a:solidFill>
                <a:latin typeface="Courier"/>
              </a:rPr>
              <a:t>(</a:t>
            </a:r>
            <a:r>
              <a:rPr b="1">
                <a:solidFill>
                  <a:srgbClr val="27AEAE"/>
                </a:solidFill>
                <a:latin typeface="Courier"/>
              </a:rPr>
              <a:t>TRUE</a:t>
            </a:r>
            <a:r>
              <a:rPr>
                <a:solidFill>
                  <a:srgbClr val="CFCFC2"/>
                </a:solidFill>
                <a:latin typeface="Courier"/>
              </a:rPr>
              <a:t>, </a:t>
            </a:r>
            <a:r>
              <a:rPr b="1">
                <a:solidFill>
                  <a:srgbClr val="27AEAE"/>
                </a:solidFill>
                <a:latin typeface="Courier"/>
              </a:rPr>
              <a:t>FALSE</a:t>
            </a:r>
            <a:r>
              <a:rPr>
                <a:solidFill>
                  <a:srgbClr val="CFCFC2"/>
                </a:solidFill>
                <a:latin typeface="Courier"/>
              </a:rPr>
              <a:t>)))</a:t>
            </a:r>
          </a:p>
          <a:p>
            <a:pPr lvl="0" indent="0">
              <a:buNone/>
            </a:pPr>
            <a:r>
              <a:rPr>
                <a:latin typeface="Courier"/>
              </a:rPr>
              <a:t>## [1] "list"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Think-pair-share</a:t>
            </a:r>
          </a:p>
        </p:txBody>
      </p:sp>
      <p:sp>
        <p:nvSpPr>
          <p:cNvPr id="3" name="Content Placeholder 2"/>
          <p:cNvSpPr>
            <a:spLocks noGrp="1"/>
          </p:cNvSpPr>
          <p:nvPr>
            <p:ph idx="1"/>
          </p:nvPr>
        </p:nvSpPr>
        <p:spPr/>
        <p:txBody>
          <a:bodyPr/>
          <a:lstStyle/>
          <a:p>
            <a:pPr lvl="0"/>
            <a:r>
              <a:rPr/>
              <a:t>I want to bunch together some data consisting of the numbers 1 to 10. The letters c thru e and the 3 province names in Canada. How would I do that? What data structure should I use?</a:t>
            </a:r>
          </a:p>
          <a:p>
            <a:pPr lvl="0"/>
            <a:r>
              <a:rPr/>
              <a:t>Let’s say now I have a bunch of time series data. A grid of 10x10 cells which contain decimals ranging from 0 to 1 that change over a period of five years being measured once every year. What data structure is suited to this? How would I define it?</a:t>
            </a:r>
          </a:p>
          <a:p>
            <a:pPr lvl="0" indent="0">
              <a:buNone/>
            </a:pPr>
            <a:r>
              <a:rPr>
                <a:solidFill>
                  <a:srgbClr val="7A7C7D"/>
                </a:solidFill>
                <a:latin typeface="Courier"/>
              </a:rPr>
              <a:t># again we'll load the health data set</a:t>
            </a:r>
            <a:br/>
            <a:r>
              <a:rPr>
                <a:solidFill>
                  <a:srgbClr val="CFCFC2"/>
                </a:solidFill>
                <a:latin typeface="Courier"/>
              </a:rPr>
              <a:t>health_df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F44F4F"/>
                </a:solidFill>
                <a:latin typeface="Courier"/>
              </a:rPr>
              <a:t>"../../data/health_data.csv"</a:t>
            </a:r>
            <a:r>
              <a:rPr>
                <a:solidFill>
                  <a:srgbClr val="CFCFC2"/>
                </a:solidFill>
                <a:latin typeface="Courier"/>
              </a:rPr>
              <a:t>)</a:t>
            </a:r>
            <a:br/>
            <a:r>
              <a:rPr>
                <a:solidFill>
                  <a:srgbClr val="CFCFC2"/>
                </a:solidFill>
                <a:latin typeface="Courier"/>
              </a:rPr>
              <a:t>health_names </a:t>
            </a:r>
            <a:r>
              <a:rPr>
                <a:solidFill>
                  <a:srgbClr val="27AE60"/>
                </a:solidFill>
                <a:latin typeface="Courier"/>
              </a:rPr>
              <a:t>&lt;-</a:t>
            </a:r>
            <a:r>
              <a:rPr>
                <a:solidFill>
                  <a:srgbClr val="CFCFC2"/>
                </a:solidFill>
                <a:latin typeface="Courier"/>
              </a:rPr>
              <a:t> </a:t>
            </a:r>
            <a:r>
              <a:rPr>
                <a:solidFill>
                  <a:srgbClr val="8E44AD"/>
                </a:solidFill>
                <a:latin typeface="Courier"/>
              </a:rPr>
              <a:t>names</a:t>
            </a:r>
            <a:r>
              <a:rPr>
                <a:solidFill>
                  <a:srgbClr val="CFCFC2"/>
                </a:solidFill>
                <a:latin typeface="Courier"/>
              </a:rPr>
              <a:t>(health_df) </a:t>
            </a:r>
            <a:r>
              <a:rPr>
                <a:solidFill>
                  <a:srgbClr val="7A7C7D"/>
                </a:solidFill>
                <a:latin typeface="Courier"/>
              </a:rPr>
              <a:t># this will load the column names</a:t>
            </a:r>
            <a:br/>
            <a:r>
              <a:rPr>
                <a:solidFill>
                  <a:srgbClr val="CFCFC2"/>
                </a:solidFill>
                <a:latin typeface="Courier"/>
              </a:rPr>
              <a:t>health_names[</a:t>
            </a:r>
            <a:r>
              <a:rPr>
                <a:solidFill>
                  <a:srgbClr val="F67400"/>
                </a:solidFill>
                <a:latin typeface="Courier"/>
              </a:rPr>
              <a:t>1</a:t>
            </a:r>
            <a:r>
              <a:rPr>
                <a:solidFill>
                  <a:srgbClr val="3DAEE9"/>
                </a:solidFill>
                <a:latin typeface="Courier"/>
              </a:rPr>
              <a:t>:</a:t>
            </a:r>
            <a:r>
              <a:rPr>
                <a:solidFill>
                  <a:srgbClr val="F67400"/>
                </a:solidFill>
                <a:latin typeface="Courier"/>
              </a:rPr>
              <a:t>3</a:t>
            </a:r>
            <a:r>
              <a:rPr>
                <a:solidFill>
                  <a:srgbClr val="CFCFC2"/>
                </a:solidFill>
                <a:latin typeface="Courier"/>
              </a:rPr>
              <a:t>]</a:t>
            </a:r>
          </a:p>
          <a:p>
            <a:pPr lvl="0" indent="0">
              <a:buNone/>
            </a:pPr>
            <a:r>
              <a:rPr>
                <a:latin typeface="Courier"/>
              </a:rPr>
              <a:t>## [1] "id"     "group"  "gender"</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Working with column data</a:t>
            </a:r>
          </a:p>
        </p:txBody>
      </p:sp>
      <p:sp>
        <p:nvSpPr>
          <p:cNvPr id="3" name="Content Placeholder 2"/>
          <p:cNvSpPr>
            <a:spLocks noGrp="1"/>
          </p:cNvSpPr>
          <p:nvPr>
            <p:ph idx="1"/>
          </p:nvPr>
        </p:nvSpPr>
        <p:spPr/>
        <p:txBody>
          <a:bodyPr/>
          <a:lstStyle/>
          <a:p>
            <a:pPr lvl="0" indent="0">
              <a:buNone/>
            </a:pPr>
            <a:r>
              <a:rPr>
                <a:solidFill>
                  <a:srgbClr val="CFCFC2"/>
                </a:solidFill>
                <a:latin typeface="Courier"/>
              </a:rPr>
              <a:t>health_df[</a:t>
            </a:r>
            <a:r>
              <a:rPr>
                <a:solidFill>
                  <a:srgbClr val="F67400"/>
                </a:solidFill>
                <a:latin typeface="Courier"/>
              </a:rPr>
              <a:t>1</a:t>
            </a:r>
            <a:r>
              <a:rPr>
                <a:solidFill>
                  <a:srgbClr val="CFCFC2"/>
                </a:solidFill>
                <a:latin typeface="Courier"/>
              </a:rPr>
              <a:t>,]</a:t>
            </a:r>
            <a:r>
              <a:rPr>
                <a:solidFill>
                  <a:srgbClr val="3DAEE9"/>
                </a:solidFill>
                <a:latin typeface="Courier"/>
              </a:rPr>
              <a:t>$</a:t>
            </a:r>
            <a:r>
              <a:rPr>
                <a:solidFill>
                  <a:srgbClr val="CFCFC2"/>
                </a:solidFill>
                <a:latin typeface="Courier"/>
              </a:rPr>
              <a:t>improved</a:t>
            </a:r>
          </a:p>
          <a:p>
            <a:pPr lvl="0" indent="0">
              <a:buNone/>
            </a:pPr>
            <a:r>
              <a:rPr>
                <a:latin typeface="Courier"/>
              </a:rPr>
              <a:t>## [1] "False"</a:t>
            </a:r>
          </a:p>
          <a:p>
            <a:pPr lvl="0" indent="0">
              <a:buNone/>
            </a:pPr>
            <a:r>
              <a:rPr>
                <a:solidFill>
                  <a:srgbClr val="CFCFC2"/>
                </a:solidFill>
                <a:latin typeface="Courier"/>
              </a:rPr>
              <a:t>health_df </a:t>
            </a:r>
            <a:r>
              <a:rPr>
                <a:solidFill>
                  <a:srgbClr val="3DAEE9"/>
                </a:solidFill>
                <a:latin typeface="Courier"/>
              </a:rPr>
              <a:t>%&gt;%</a:t>
            </a:r>
            <a:r>
              <a:rPr>
                <a:solidFill>
                  <a:srgbClr val="CFCFC2"/>
                </a:solidFill>
                <a:latin typeface="Courier"/>
              </a:rPr>
              <a:t> </a:t>
            </a:r>
            <a:r>
              <a:rPr>
                <a:solidFill>
                  <a:srgbClr val="8E44AD"/>
                </a:solidFill>
                <a:latin typeface="Courier"/>
              </a:rPr>
              <a:t>select</a:t>
            </a:r>
            <a:r>
              <a:rPr>
                <a:solidFill>
                  <a:srgbClr val="CFCFC2"/>
                </a:solidFill>
                <a:latin typeface="Courier"/>
              </a:rPr>
              <a:t>(improved) </a:t>
            </a:r>
            <a:r>
              <a:rPr>
                <a:solidFill>
                  <a:srgbClr val="3DAEE9"/>
                </a:solidFill>
                <a:latin typeface="Courier"/>
              </a:rPr>
              <a:t>%&gt;%</a:t>
            </a:r>
            <a:r>
              <a:rPr>
                <a:solidFill>
                  <a:srgbClr val="CFCFC2"/>
                </a:solidFill>
                <a:latin typeface="Courier"/>
              </a:rPr>
              <a:t> </a:t>
            </a:r>
            <a:r>
              <a:rPr>
                <a:solidFill>
                  <a:srgbClr val="8E44AD"/>
                </a:solidFill>
                <a:latin typeface="Courier"/>
              </a:rPr>
              <a:t>head</a:t>
            </a:r>
            <a:r>
              <a:rPr>
                <a:solidFill>
                  <a:srgbClr val="CFCFC2"/>
                </a:solidFill>
                <a:latin typeface="Courier"/>
              </a:rPr>
              <a:t>(</a:t>
            </a:r>
            <a:r>
              <a:rPr>
                <a:solidFill>
                  <a:srgbClr val="F67400"/>
                </a:solidFill>
                <a:latin typeface="Courier"/>
              </a:rPr>
              <a:t>1</a:t>
            </a:r>
            <a:r>
              <a:rPr>
                <a:solidFill>
                  <a:srgbClr val="CFCFC2"/>
                </a:solidFill>
                <a:latin typeface="Courier"/>
              </a:rPr>
              <a:t>)</a:t>
            </a:r>
          </a:p>
          <a:p>
            <a:pPr lvl="0" indent="0">
              <a:buNone/>
            </a:pPr>
            <a:r>
              <a:rPr>
                <a:latin typeface="Courier"/>
              </a:rPr>
              <a:t>##   improved
## 1    False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Think-pair-share</a:t>
            </a:r>
          </a:p>
        </p:txBody>
      </p:sp>
      <p:sp>
        <p:nvSpPr>
          <p:cNvPr id="3" name="Content Placeholder 2"/>
          <p:cNvSpPr>
            <a:spLocks noGrp="1"/>
          </p:cNvSpPr>
          <p:nvPr>
            <p:ph idx="1"/>
          </p:nvPr>
        </p:nvSpPr>
        <p:spPr/>
        <p:txBody>
          <a:bodyPr/>
          <a:lstStyle/>
          <a:p>
            <a:pPr lvl="0"/>
            <a:r>
              <a:rPr/>
              <a:t>I am interested in knowing how many females and how many males there are in my study. What column would I access to start answering the question? Also how would I access it?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Plotting</a:t>
            </a:r>
          </a:p>
        </p:txBody>
      </p:sp>
      <p:sp>
        <p:nvSpPr>
          <p:cNvPr id="3" name="Content Placeholder 2"/>
          <p:cNvSpPr>
            <a:spLocks noGrp="1"/>
          </p:cNvSpPr>
          <p:nvPr>
            <p:ph idx="1"/>
          </p:nvPr>
        </p:nvSpPr>
        <p:spPr/>
        <p:txBody>
          <a:bodyPr/>
          <a:lstStyle/>
          <a:p>
            <a:pPr lvl="0" indent="0">
              <a:buNone/>
            </a:pPr>
            <a:r>
              <a:rPr>
                <a:solidFill>
                  <a:srgbClr val="8E44AD"/>
                </a:solidFill>
                <a:latin typeface="Courier"/>
              </a:rPr>
              <a:t>library</a:t>
            </a:r>
            <a:r>
              <a:rPr>
                <a:solidFill>
                  <a:srgbClr val="CFCFC2"/>
                </a:solidFill>
                <a:latin typeface="Courier"/>
              </a:rPr>
              <a:t>(ggplot2)</a:t>
            </a:r>
            <a:br/>
            <a:r>
              <a:rPr>
                <a:solidFill>
                  <a:srgbClr val="CFCFC2"/>
                </a:solidFill>
                <a:latin typeface="Courier"/>
              </a:rPr>
              <a:t>health_df </a:t>
            </a:r>
            <a:r>
              <a:rPr>
                <a:solidFill>
                  <a:srgbClr val="27AE60"/>
                </a:solidFill>
                <a:latin typeface="Courier"/>
              </a:rPr>
              <a:t>&lt;-</a:t>
            </a:r>
            <a:r>
              <a:rPr>
                <a:solidFill>
                  <a:srgbClr val="CFCFC2"/>
                </a:solidFill>
                <a:latin typeface="Courier"/>
              </a:rPr>
              <a:t> </a:t>
            </a:r>
            <a:r>
              <a:rPr>
                <a:solidFill>
                  <a:srgbClr val="8E44AD"/>
                </a:solidFill>
                <a:latin typeface="Courier"/>
              </a:rPr>
              <a:t>read.csv</a:t>
            </a:r>
            <a:r>
              <a:rPr>
                <a:solidFill>
                  <a:srgbClr val="CFCFC2"/>
                </a:solidFill>
                <a:latin typeface="Courier"/>
              </a:rPr>
              <a:t>(</a:t>
            </a:r>
            <a:r>
              <a:rPr>
                <a:solidFill>
                  <a:srgbClr val="F44F4F"/>
                </a:solidFill>
                <a:latin typeface="Courier"/>
              </a:rPr>
              <a:t>"../../data/health_data.csv"</a:t>
            </a:r>
            <a:r>
              <a:rPr>
                <a:solidFill>
                  <a:srgbClr val="CFCFC2"/>
                </a:solidFill>
                <a:latin typeface="Courier"/>
              </a:rPr>
              <a:t>)</a:t>
            </a:r>
            <a:br/>
            <a:r>
              <a:rPr>
                <a:solidFill>
                  <a:srgbClr val="8E44AD"/>
                </a:solidFill>
                <a:latin typeface="Courier"/>
              </a:rPr>
              <a:t>ggplot</a:t>
            </a:r>
            <a:r>
              <a:rPr>
                <a:solidFill>
                  <a:srgbClr val="CFCFC2"/>
                </a:solidFill>
                <a:latin typeface="Courier"/>
              </a:rPr>
              <a:t>(health_df, </a:t>
            </a:r>
            <a:r>
              <a:rPr>
                <a:solidFill>
                  <a:srgbClr val="8E44AD"/>
                </a:solidFill>
                <a:latin typeface="Courier"/>
              </a:rPr>
              <a:t>aes</a:t>
            </a:r>
            <a:r>
              <a:rPr>
                <a:solidFill>
                  <a:srgbClr val="CFCFC2"/>
                </a:solidFill>
                <a:latin typeface="Courier"/>
              </a:rPr>
              <a:t>(</a:t>
            </a:r>
            <a:r>
              <a:rPr>
                <a:solidFill>
                  <a:srgbClr val="2980B9"/>
                </a:solidFill>
                <a:latin typeface="Courier"/>
              </a:rPr>
              <a:t>y =</a:t>
            </a:r>
            <a:r>
              <a:rPr>
                <a:solidFill>
                  <a:srgbClr val="CFCFC2"/>
                </a:solidFill>
                <a:latin typeface="Courier"/>
              </a:rPr>
              <a:t> bmi_post, </a:t>
            </a:r>
            <a:r>
              <a:rPr>
                <a:solidFill>
                  <a:srgbClr val="2980B9"/>
                </a:solidFill>
                <a:latin typeface="Courier"/>
              </a:rPr>
              <a:t>group =</a:t>
            </a:r>
            <a:r>
              <a:rPr>
                <a:solidFill>
                  <a:srgbClr val="CFCFC2"/>
                </a:solidFill>
                <a:latin typeface="Courier"/>
              </a:rPr>
              <a:t> </a:t>
            </a:r>
            <a:r>
              <a:rPr>
                <a:solidFill>
                  <a:srgbClr val="8E44AD"/>
                </a:solidFill>
                <a:latin typeface="Courier"/>
              </a:rPr>
              <a:t>as.factor</a:t>
            </a:r>
            <a:r>
              <a:rPr>
                <a:solidFill>
                  <a:srgbClr val="CFCFC2"/>
                </a:solidFill>
                <a:latin typeface="Courier"/>
              </a:rPr>
              <a:t>(gender), </a:t>
            </a:r>
            <a:r>
              <a:rPr>
                <a:solidFill>
                  <a:srgbClr val="2980B9"/>
                </a:solidFill>
                <a:latin typeface="Courier"/>
              </a:rPr>
              <a:t>color =</a:t>
            </a:r>
            <a:r>
              <a:rPr>
                <a:solidFill>
                  <a:srgbClr val="CFCFC2"/>
                </a:solidFill>
                <a:latin typeface="Courier"/>
              </a:rPr>
              <a:t> </a:t>
            </a:r>
            <a:r>
              <a:rPr>
                <a:solidFill>
                  <a:srgbClr val="8E44AD"/>
                </a:solidFill>
                <a:latin typeface="Courier"/>
              </a:rPr>
              <a:t>as.factor</a:t>
            </a:r>
            <a:r>
              <a:rPr>
                <a:solidFill>
                  <a:srgbClr val="CFCFC2"/>
                </a:solidFill>
                <a:latin typeface="Courier"/>
              </a:rPr>
              <a:t>(group))) </a:t>
            </a:r>
            <a:r>
              <a:rPr>
                <a:solidFill>
                  <a:srgbClr val="3DAEE9"/>
                </a:solidFill>
                <a:latin typeface="Courier"/>
              </a:rPr>
              <a:t>+</a:t>
            </a:r>
            <a:r>
              <a:rPr>
                <a:solidFill>
                  <a:srgbClr val="CFCFC2"/>
                </a:solidFill>
                <a:latin typeface="Courier"/>
              </a:rPr>
              <a:t> </a:t>
            </a:r>
            <a:r>
              <a:rPr>
                <a:solidFill>
                  <a:srgbClr val="8E44AD"/>
                </a:solidFill>
                <a:latin typeface="Courier"/>
              </a:rPr>
              <a:t>geom_boxplot</a:t>
            </a:r>
            <a:r>
              <a:rPr>
                <a:solidFill>
                  <a:srgbClr val="CFCFC2"/>
                </a:solidFill>
                <a:latin typeface="Courier"/>
              </a:rPr>
              <a: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challenge</a:t>
            </a:r>
          </a:p>
        </p:txBody>
      </p:sp>
      <p:sp>
        <p:nvSpPr>
          <p:cNvPr id="3" name="Content Placeholder 2"/>
          <p:cNvSpPr>
            <a:spLocks noGrp="1"/>
          </p:cNvSpPr>
          <p:nvPr>
            <p:ph idx="1"/>
          </p:nvPr>
        </p:nvSpPr>
        <p:spPr/>
        <p:txBody>
          <a:bodyPr/>
          <a:lstStyle/>
          <a:p>
            <a:pPr lvl="0"/>
            <a:r>
              <a:rPr/>
              <a:t>I would like you to load the health_data dataset and using dplyr give me the number of people who improved grouped by gender. I would also only like to see those individuals who improved.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594359"/>
            <a:ext cx="3200400" cy="2286000"/>
          </a:xfrm>
        </p:spPr>
        <p:txBody>
          <a:bodyPr/>
          <a:lstStyle/>
          <a:p>
            <a:pPr lvl="0" indent="0" marL="0">
              <a:buNone/>
            </a:pPr>
            <a:r>
              <a:rPr/>
              <a:t>Coding challenge</a:t>
            </a:r>
          </a:p>
        </p:txBody>
      </p:sp>
      <p:sp>
        <p:nvSpPr>
          <p:cNvPr id="4" name="Text Placeholder 3"/>
          <p:cNvSpPr>
            <a:spLocks noGrp="1"/>
          </p:cNvSpPr>
          <p:nvPr>
            <p:ph idx="2" sz="half" type="body"/>
          </p:nvPr>
        </p:nvSpPr>
        <p:spPr/>
        <p:txBody>
          <a:bodyPr/>
          <a:lstStyle/>
          <a:p>
            <a:pPr lvl="0"/>
            <a:r>
              <a:rPr/>
              <a:t>Now that we have figured out the numbers I would like to visualize the number improved grouped by gender.</a:t>
            </a:r>
          </a:p>
        </p:txBody>
      </p:sp>
      <p:pic>
        <p:nvPicPr>
          <p:cNvPr descr="fundamental-concepts-with-RStudio-90-mins_files/figure-pptx/unnamed-chunk-49-1.png" id="0" name="Picture 1"/>
          <p:cNvPicPr>
            <a:picLocks noGrp="1" noChangeAspect="1"/>
          </p:cNvPicPr>
          <p:nvPr/>
        </p:nvPicPr>
        <p:blipFill>
          <a:blip r:embed="rId2"/>
          <a:stretch>
            <a:fillRect/>
          </a:stretch>
        </p:blipFill>
        <p:spPr bwMode="auto">
          <a:xfrm>
            <a:off x="4800600" y="762000"/>
            <a:ext cx="6489700" cy="51943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Help</a:t>
            </a:r>
          </a:p>
        </p:txBody>
      </p:sp>
      <p:sp>
        <p:nvSpPr>
          <p:cNvPr id="3" name="Content Placeholder 2"/>
          <p:cNvSpPr>
            <a:spLocks noGrp="1"/>
          </p:cNvSpPr>
          <p:nvPr>
            <p:ph idx="1"/>
          </p:nvPr>
        </p:nvSpPr>
        <p:spPr/>
        <p:txBody>
          <a:bodyPr/>
          <a:lstStyle/>
          <a:p>
            <a:pPr lvl="0"/>
            <a:r>
              <a:rPr/>
              <a:t>The </a:t>
            </a:r>
            <a:r>
              <a:rPr>
                <a:latin typeface="Courier"/>
              </a:rPr>
              <a:t>learnr</a:t>
            </a:r>
            <a:r>
              <a:rPr/>
              <a:t> package is a resource for learning how to navigate R!</a:t>
            </a:r>
          </a:p>
          <a:p>
            <a:pPr lvl="0" indent="0">
              <a:buNone/>
            </a:pPr>
            <a:r>
              <a:rPr>
                <a:solidFill>
                  <a:srgbClr val="CFCFC2"/>
                </a:solidFill>
                <a:latin typeface="Courier"/>
              </a:rPr>
              <a:t>?</a:t>
            </a:r>
            <a:r>
              <a:rPr>
                <a:solidFill>
                  <a:srgbClr val="8E44AD"/>
                </a:solidFill>
                <a:latin typeface="Courier"/>
              </a:rPr>
              <a:t>sqrt</a:t>
            </a:r>
            <a:r>
              <a:rPr>
                <a:solidFill>
                  <a:srgbClr val="CFCFC2"/>
                </a:solidFill>
                <a:latin typeface="Courier"/>
              </a:rPr>
              <a:t>()</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Takeaway</a:t>
            </a:r>
          </a:p>
        </p:txBody>
      </p:sp>
      <p:sp>
        <p:nvSpPr>
          <p:cNvPr id="3" name="Content Placeholder 2"/>
          <p:cNvSpPr>
            <a:spLocks noGrp="1"/>
          </p:cNvSpPr>
          <p:nvPr>
            <p:ph idx="1"/>
          </p:nvPr>
        </p:nvSpPr>
        <p:spPr/>
        <p:txBody>
          <a:bodyPr/>
          <a:lstStyle/>
          <a:p>
            <a:pPr lvl="0"/>
            <a:r>
              <a:rPr/>
              <a:t>R </a:t>
            </a:r>
            <a:r>
              <a:rPr i="1"/>
              <a:t>imports</a:t>
            </a:r>
            <a:r>
              <a:rPr/>
              <a:t> data into memory, it doesn’t “open” files</a:t>
            </a:r>
          </a:p>
          <a:p>
            <a:pPr lvl="0"/>
            <a:r>
              <a:rPr/>
              <a:t>Keep projects self-contained with R Projects</a:t>
            </a:r>
          </a:p>
          <a:p>
            <a:pPr lvl="0"/>
            <a:r>
              <a:rPr/>
              <a:t>Always use </a:t>
            </a:r>
            <a:r>
              <a:rPr b="1"/>
              <a:t>relative paths</a:t>
            </a:r>
          </a:p>
          <a:p>
            <a:pPr lvl="0"/>
            <a:r>
              <a:rPr/>
              <a:t>Use </a:t>
            </a:r>
            <a:r>
              <a:rPr>
                <a:latin typeface="Courier"/>
              </a:rPr>
              <a:t>read_csv()</a:t>
            </a:r>
            <a:r>
              <a:rPr/>
              <a:t> / </a:t>
            </a:r>
            <a:r>
              <a:rPr>
                <a:latin typeface="Courier"/>
              </a:rPr>
              <a:t>read_excel()</a:t>
            </a:r>
            <a:r>
              <a:rPr/>
              <a:t> for tidyverse workflows</a:t>
            </a:r>
          </a:p>
          <a:p>
            <a:pPr lvl="0"/>
            <a:r>
              <a:rPr/>
              <a:t>Explore your data with </a:t>
            </a:r>
            <a:r>
              <a:rPr>
                <a:latin typeface="Courier"/>
              </a:rPr>
              <a:t>str()</a:t>
            </a:r>
            <a:r>
              <a:rPr/>
              <a:t>, </a:t>
            </a:r>
            <a:r>
              <a:rPr>
                <a:latin typeface="Courier"/>
              </a:rPr>
              <a:t>glimpse()</a:t>
            </a:r>
            <a:r>
              <a:rPr/>
              <a:t>, </a:t>
            </a:r>
            <a:r>
              <a:rPr>
                <a:latin typeface="Courier"/>
              </a:rPr>
              <a:t>head()</a:t>
            </a:r>
            <a:r>
              <a:rPr/>
              <a:t> and </a:t>
            </a:r>
            <a:r>
              <a:rPr>
                <a:latin typeface="Courier"/>
              </a:rPr>
              <a:t>names()</a:t>
            </a:r>
          </a:p>
          <a:p>
            <a:pPr lvl="0"/>
            <a:r>
              <a:rPr/>
              <a:t>Know your data’s shape: </a:t>
            </a:r>
            <a:r>
              <a:rPr i="1"/>
              <a:t>long vs. wide</a:t>
            </a:r>
          </a:p>
          <a:p>
            <a:pPr lvl="0"/>
            <a:r>
              <a:rPr/>
              <a:t>Data structures</a:t>
            </a:r>
          </a:p>
          <a:p>
            <a:pPr lvl="0"/>
            <a:r>
              <a:rPr/>
              <a:t>Functions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aRrgh: a newcomer’s (angry) guide to R, by Tim Smith and Kevin Ushey - </a:t>
            </a:r>
            <a:r>
              <a:rPr>
                <a:hlinkClick r:id="rId2"/>
              </a:rPr>
              <a:t>http://arrgh.tim-smith.us/</a:t>
            </a:r>
          </a:p>
          <a:p>
            <a:pPr lvl="0"/>
            <a:r>
              <a:rPr/>
              <a:t>YaRrr! The Pirate’s Guide to R, by Nathaniel D. Phillips - </a:t>
            </a:r>
            <a:r>
              <a:rPr>
                <a:hlinkClick r:id="rId3"/>
              </a:rPr>
              <a:t>https://bookdown.org/ndphillips/YaRrr/</a:t>
            </a:r>
          </a:p>
          <a:p>
            <a:pPr lvl="0"/>
            <a:r>
              <a:rPr/>
              <a:t>R for Graduate Students, by Wendy Huynh. - </a:t>
            </a:r>
            <a:r>
              <a:rPr>
                <a:hlinkClick r:id="rId4"/>
              </a:rPr>
              <a:t>https://bookdown.org/yih_huynh/Guide-to-R-Book/</a:t>
            </a:r>
          </a:p>
          <a:p>
            <a:pPr lvl="0"/>
            <a:r>
              <a:rPr/>
              <a:t>Advanced R, by Hadley Wickham - </a:t>
            </a:r>
            <a:r>
              <a:rPr>
                <a:hlinkClick r:id="rId5"/>
              </a:rPr>
              <a:t>http://adv-r.had.co.nz/Introduction.html</a:t>
            </a:r>
            <a:r>
              <a:rPr/>
              <a:t> And through the library, the </a:t>
            </a:r>
            <a:r>
              <a:rPr>
                <a:hlinkClick r:id="rId6"/>
              </a:rPr>
              <a:t>O’Reilly platform</a:t>
            </a:r>
            <a:r>
              <a:rPr/>
              <a:t> hosts a plethora of titles related to R.</a:t>
            </a:r>
          </a:p>
          <a:p>
            <a:pPr lvl="0"/>
            <a:r>
              <a:rPr>
                <a:hlinkClick r:id="rId7"/>
              </a:rPr>
              <a:t>https://www.w3schools.com/r/r_data_types.asp</a:t>
            </a:r>
          </a:p>
        </p:txBody>
      </p:sp>
    </p:spTree>
  </p:cSld>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Slate</Template>
  <TotalTime>4048</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Calibri</vt:lpstr>
      <vt:lpstr>Calibri Light</vt:lpstr>
      <vt:lpstr>Retrospect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 Fundamental Concepts with RStudio</dc:title>
  <dc:creator/>
  <cp:keywords/>
  <dcterms:created xsi:type="dcterms:W3CDTF">2025-10-23T19:55:44Z</dcterms:created>
  <dcterms:modified xsi:type="dcterms:W3CDTF">2025-10-23T19:55:44Z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2025-10-23 12:55:37</vt:lpwstr>
  </property>
  <property fmtid="{D5CDD505-2E9C-101B-9397-08002B2CF9AE}" pid="3" name="name">
    <vt:lpwstr>Alex Jack</vt:lpwstr>
  </property>
  <property fmtid="{D5CDD505-2E9C-101B-9397-08002B2CF9AE}" pid="4" name="output">
    <vt:lpwstr/>
  </property>
</Properties>
</file>